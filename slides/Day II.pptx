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66"/>
  </p:notesMasterIdLst>
  <p:sldIdLst>
    <p:sldId id="256" r:id="rId2"/>
    <p:sldId id="378" r:id="rId3"/>
    <p:sldId id="379" r:id="rId4"/>
    <p:sldId id="411" r:id="rId5"/>
    <p:sldId id="412" r:id="rId6"/>
    <p:sldId id="414" r:id="rId7"/>
    <p:sldId id="415" r:id="rId8"/>
    <p:sldId id="416" r:id="rId9"/>
    <p:sldId id="418" r:id="rId10"/>
    <p:sldId id="419" r:id="rId11"/>
    <p:sldId id="417" r:id="rId12"/>
    <p:sldId id="420" r:id="rId13"/>
    <p:sldId id="432" r:id="rId14"/>
    <p:sldId id="433" r:id="rId15"/>
    <p:sldId id="434" r:id="rId16"/>
    <p:sldId id="435" r:id="rId17"/>
    <p:sldId id="436" r:id="rId18"/>
    <p:sldId id="437" r:id="rId19"/>
    <p:sldId id="421" r:id="rId20"/>
    <p:sldId id="422" r:id="rId21"/>
    <p:sldId id="438" r:id="rId22"/>
    <p:sldId id="423" r:id="rId23"/>
    <p:sldId id="424" r:id="rId24"/>
    <p:sldId id="425" r:id="rId25"/>
    <p:sldId id="426" r:id="rId26"/>
    <p:sldId id="427" r:id="rId27"/>
    <p:sldId id="439" r:id="rId28"/>
    <p:sldId id="428" r:id="rId29"/>
    <p:sldId id="440" r:id="rId30"/>
    <p:sldId id="447" r:id="rId31"/>
    <p:sldId id="441" r:id="rId32"/>
    <p:sldId id="448" r:id="rId33"/>
    <p:sldId id="449" r:id="rId34"/>
    <p:sldId id="450" r:id="rId35"/>
    <p:sldId id="451" r:id="rId36"/>
    <p:sldId id="443" r:id="rId37"/>
    <p:sldId id="444" r:id="rId38"/>
    <p:sldId id="445" r:id="rId39"/>
    <p:sldId id="446" r:id="rId40"/>
    <p:sldId id="429" r:id="rId41"/>
    <p:sldId id="430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59" r:id="rId50"/>
    <p:sldId id="466" r:id="rId51"/>
    <p:sldId id="460" r:id="rId52"/>
    <p:sldId id="467" r:id="rId53"/>
    <p:sldId id="470" r:id="rId54"/>
    <p:sldId id="468" r:id="rId55"/>
    <p:sldId id="469" r:id="rId56"/>
    <p:sldId id="471" r:id="rId57"/>
    <p:sldId id="472" r:id="rId58"/>
    <p:sldId id="473" r:id="rId59"/>
    <p:sldId id="474" r:id="rId60"/>
    <p:sldId id="475" r:id="rId61"/>
    <p:sldId id="465" r:id="rId62"/>
    <p:sldId id="476" r:id="rId63"/>
    <p:sldId id="477" r:id="rId64"/>
    <p:sldId id="323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3741" autoAdjust="0"/>
  </p:normalViewPr>
  <p:slideViewPr>
    <p:cSldViewPr snapToGrid="0">
      <p:cViewPr varScale="1">
        <p:scale>
          <a:sx n="74" d="100"/>
          <a:sy n="74" d="100"/>
        </p:scale>
        <p:origin x="-60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56052-7B69-4CB1-ABD2-59AD2EE37E3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F9CC9-BC6C-4D23-B819-616CFF366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0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3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1280F-E433-4903-A06E-0B8753D81C8C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D2EA-206D-453A-8405-C447881FF781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7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799A7-A01B-483B-8CFF-61FAAFAB99CE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BBDC3-E92E-40E4-8599-77AFE6CF4AF8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C39-358F-4C2C-B9AA-0CCAFC508A4C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14461-0EFB-4CFA-89E2-F818F7A4CFA2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5CF33-AC62-429D-B92A-8A682E7F3629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5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88CCA-9D92-44C0-955A-964904024BF6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3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15275-427A-4FBB-B2D9-C27E423DD49D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52B9F-7481-41B3-BB64-68F34EB062BD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D3CC-1745-4E4F-8BE2-1CF414F3DE15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5B9EA76-9F98-4780-8EF7-CC65503A1128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lc.gov.e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lc.gov.et/public/logi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692" y="3775607"/>
            <a:ext cx="10993547" cy="2006628"/>
          </a:xfrm>
        </p:spPr>
        <p:txBody>
          <a:bodyPr>
            <a:noAutofit/>
          </a:bodyPr>
          <a:lstStyle/>
          <a:p>
            <a:pPr algn="ctr"/>
            <a:r>
              <a:rPr lang="" altLang="en-US" sz="5400" b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Backend, Frontend, and DLC Content Management</a:t>
            </a:r>
            <a:endParaRPr lang="" altLang="en-US" sz="8800" dirty="0">
              <a:latin typeface="Sitka Text Semibold" pitchFamily="2" charset="0"/>
            </a:endParaRPr>
          </a:p>
        </p:txBody>
      </p:sp>
      <p:pic>
        <p:nvPicPr>
          <p:cNvPr id="2" name="Picture 2" descr="Elementor Footer 02 – Digital Ethiopia Learning Platfor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8"/>
          <a:stretch>
            <a:fillRect/>
          </a:stretch>
        </p:blipFill>
        <p:spPr bwMode="auto">
          <a:xfrm>
            <a:off x="298383" y="471081"/>
            <a:ext cx="2954907" cy="267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50" b="23113"/>
          <a:stretch>
            <a:fillRect/>
          </a:stretch>
        </p:blipFill>
        <p:spPr bwMode="auto">
          <a:xfrm>
            <a:off x="7629067" y="592011"/>
            <a:ext cx="4264551" cy="24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367532" y="5855290"/>
            <a:ext cx="1627244" cy="6627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ym typeface="+mn-ea"/>
              </a:rPr>
              <a:t>Day II</a:t>
            </a:r>
            <a:endParaRPr lang="en-US" sz="2800" b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Exploring the DLC Content Management System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dirty="0" smtClean="0"/>
              <a:t>Navigate </a:t>
            </a:r>
            <a:r>
              <a:rPr lang="en-US" dirty="0"/>
              <a:t>and explain the structure and functionality of the landing page, login page, dashboard, and profile management modules.</a:t>
            </a:r>
          </a:p>
          <a:p>
            <a:pPr lvl="1"/>
            <a:r>
              <a:rPr lang="en-US" dirty="0"/>
              <a:t>Demonstrate how to access, search, and interact with digital learning content through the frontend.</a:t>
            </a:r>
          </a:p>
          <a:p>
            <a:pPr lvl="1"/>
            <a:r>
              <a:rPr lang="en-US" dirty="0"/>
              <a:t>Manage user profiles, passwords, and display preferences from the backend dashboard.</a:t>
            </a:r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281354" y="570232"/>
            <a:ext cx="113035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" altLang="en-US" b="1" dirty="0">
                <a:sym typeface="+mn-ea"/>
              </a:rPr>
              <a:t>Session - 1</a:t>
            </a:r>
            <a:endParaRPr lang="" alt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ym typeface="+mn-ea"/>
              </a:rPr>
              <a:t>What </a:t>
            </a:r>
            <a:r>
              <a:rPr lang="en-US" b="1" dirty="0" smtClean="0">
                <a:sym typeface="+mn-ea"/>
              </a:rPr>
              <a:t>is </a:t>
            </a:r>
            <a:r>
              <a:rPr lang="en-US" b="1" dirty="0">
                <a:sym typeface="+mn-ea"/>
              </a:rPr>
              <a:t>DLC Content Management?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DLC </a:t>
            </a:r>
            <a:r>
              <a:rPr lang="en-US" sz="2800" b="1" dirty="0"/>
              <a:t>(Digital Learning Content) Management System </a:t>
            </a:r>
            <a:r>
              <a:rPr lang="en-US" sz="2800" dirty="0"/>
              <a:t>is a platform designed to </a:t>
            </a:r>
            <a:r>
              <a:rPr lang="en-US" sz="2800" b="1" dirty="0"/>
              <a:t>store, organize, deliver, and manage</a:t>
            </a:r>
            <a:r>
              <a:rPr lang="en-US" sz="2800" dirty="0"/>
              <a:t> digital learning </a:t>
            </a:r>
            <a:r>
              <a:rPr lang="en-US" sz="2800" dirty="0" smtClean="0"/>
              <a:t>materials (video content)</a:t>
            </a:r>
          </a:p>
          <a:p>
            <a:r>
              <a:rPr lang="en-US" sz="2800" b="1" dirty="0" smtClean="0"/>
              <a:t>Purpose</a:t>
            </a:r>
            <a:r>
              <a:rPr lang="en-US" sz="2800" b="1" dirty="0"/>
              <a:t>:</a:t>
            </a:r>
            <a:endParaRPr lang="en-US" sz="2800" dirty="0"/>
          </a:p>
          <a:p>
            <a:pPr lvl="1"/>
            <a:r>
              <a:rPr lang="en-US" sz="2400" dirty="0"/>
              <a:t>Facilitate easy access to learning materials for users.</a:t>
            </a:r>
          </a:p>
          <a:p>
            <a:pPr lvl="1"/>
            <a:r>
              <a:rPr lang="en-US" sz="2400" dirty="0"/>
              <a:t>Support multi-language and multi-sector content delivery.</a:t>
            </a:r>
          </a:p>
          <a:p>
            <a:pPr lvl="1"/>
            <a:r>
              <a:rPr lang="en-US" sz="2400" dirty="0"/>
              <a:t>Provide analytical insights </a:t>
            </a:r>
            <a:r>
              <a:rPr lang="en-US" sz="2400" dirty="0" smtClean="0"/>
              <a:t>about the digital content</a:t>
            </a:r>
            <a:endParaRPr lang="en-US" sz="2400" dirty="0"/>
          </a:p>
          <a:p>
            <a:pPr lvl="1"/>
            <a:r>
              <a:rPr lang="en-US" sz="2400" dirty="0"/>
              <a:t>Simplify content updates and user management for administrators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Core Components: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Landing Page</a:t>
            </a:r>
            <a:r>
              <a:rPr lang="en-US" dirty="0"/>
              <a:t> – Public interface for browsing and searching content.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Login Page</a:t>
            </a:r>
            <a:r>
              <a:rPr lang="en-US" dirty="0"/>
              <a:t> – Access point for authenticated users.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Dashboard</a:t>
            </a:r>
            <a:r>
              <a:rPr lang="en-US" dirty="0"/>
              <a:t> – Administrative overview and analytical reports.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/>
              <a:t>Profile Management</a:t>
            </a:r>
            <a:r>
              <a:rPr lang="en-US" dirty="0"/>
              <a:t> – User personalization and security controls.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b="1" dirty="0" smtClean="0"/>
              <a:t>Employee Management</a:t>
            </a:r>
            <a:r>
              <a:rPr lang="en-US" dirty="0" smtClean="0"/>
              <a:t> </a:t>
            </a:r>
            <a:r>
              <a:rPr lang="en-US" dirty="0"/>
              <a:t>– M</a:t>
            </a:r>
            <a:r>
              <a:rPr lang="en-US" dirty="0" smtClean="0"/>
              <a:t>anage system users.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b="1" dirty="0" smtClean="0"/>
              <a:t>Customer Management</a:t>
            </a:r>
            <a:r>
              <a:rPr lang="en-US" dirty="0" smtClean="0"/>
              <a:t> </a:t>
            </a:r>
            <a:r>
              <a:rPr lang="en-US" dirty="0"/>
              <a:t>– V</a:t>
            </a:r>
            <a:r>
              <a:rPr lang="en-US" dirty="0" smtClean="0"/>
              <a:t>iew and  monitor customer.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b="1" dirty="0" smtClean="0"/>
              <a:t>Content category Management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Define and organized content area.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b="1" dirty="0" smtClean="0"/>
              <a:t>Digital content Management</a:t>
            </a:r>
            <a:r>
              <a:rPr lang="en-US" dirty="0" smtClean="0"/>
              <a:t> </a:t>
            </a:r>
            <a:r>
              <a:rPr lang="en-US" dirty="0"/>
              <a:t>– U</a:t>
            </a:r>
            <a:r>
              <a:rPr lang="en-US" dirty="0" smtClean="0"/>
              <a:t>pload and manage actual learning materials.</a:t>
            </a:r>
            <a:endParaRPr lang="en-US" dirty="0"/>
          </a:p>
          <a:p>
            <a:r>
              <a:rPr lang="en-US" dirty="0" smtClean="0"/>
              <a:t>This </a:t>
            </a:r>
            <a:r>
              <a:rPr lang="en-US" dirty="0"/>
              <a:t>session covers the </a:t>
            </a:r>
            <a:r>
              <a:rPr lang="en-US" dirty="0" smtClean="0"/>
              <a:t>first four </a:t>
            </a:r>
            <a:r>
              <a:rPr lang="en-US" dirty="0"/>
              <a:t>components</a:t>
            </a:r>
            <a:r>
              <a:rPr lang="en-US" dirty="0" smtClean="0"/>
              <a:t>: </a:t>
            </a:r>
            <a:r>
              <a:rPr lang="en-US" dirty="0"/>
              <a:t>the landing page, login page, dashboard, and profile management modules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46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Landing Page (Public Use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Purpose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Landing Page</a:t>
            </a:r>
            <a:r>
              <a:rPr lang="en-US" sz="2400" dirty="0"/>
              <a:t> serves as the </a:t>
            </a:r>
            <a:r>
              <a:rPr lang="en-US" sz="2400" b="1" dirty="0"/>
              <a:t>public interface</a:t>
            </a:r>
            <a:r>
              <a:rPr lang="en-US" sz="2400" dirty="0"/>
              <a:t> of the Digital Learning Center (DLC) system.</a:t>
            </a:r>
          </a:p>
          <a:p>
            <a:pPr lvl="1"/>
            <a:r>
              <a:rPr lang="en-US" sz="2400" dirty="0"/>
              <a:t>It allows </a:t>
            </a:r>
            <a:r>
              <a:rPr lang="en-US" sz="2400" b="1" dirty="0"/>
              <a:t>unauthenticated users</a:t>
            </a:r>
            <a:r>
              <a:rPr lang="en-US" sz="2400" dirty="0"/>
              <a:t> to explore available content categories, search for digital content, and download the mobile app.</a:t>
            </a:r>
          </a:p>
          <a:p>
            <a:pPr lvl="1"/>
            <a:r>
              <a:rPr lang="en-US" sz="2400" dirty="0"/>
              <a:t>Acts as a </a:t>
            </a:r>
            <a:r>
              <a:rPr lang="en-US" sz="2400" b="1" dirty="0"/>
              <a:t>gateway</a:t>
            </a:r>
            <a:r>
              <a:rPr lang="en-US" sz="2400" dirty="0"/>
              <a:t> to learning materials and mobile accessibility</a:t>
            </a:r>
            <a:r>
              <a:rPr lang="en-US" sz="2400" dirty="0" smtClean="0"/>
              <a:t>.</a:t>
            </a:r>
          </a:p>
          <a:p>
            <a:r>
              <a:rPr lang="en-US" sz="2800" b="1" dirty="0"/>
              <a:t>Accessing the Landing Page</a:t>
            </a:r>
          </a:p>
          <a:p>
            <a:pPr lvl="1"/>
            <a:r>
              <a:rPr lang="en-US" sz="2400" dirty="0"/>
              <a:t>Open any browser.</a:t>
            </a:r>
          </a:p>
          <a:p>
            <a:pPr lvl="1"/>
            <a:r>
              <a:rPr lang="en-US" sz="2400" dirty="0"/>
              <a:t>Type the </a:t>
            </a:r>
            <a:r>
              <a:rPr lang="en-US" sz="2400" b="1" dirty="0"/>
              <a:t>system URL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hlinkClick r:id="rId2"/>
              </a:rPr>
              <a:t>https://www.dlc.gov.et</a:t>
            </a:r>
            <a:r>
              <a:rPr lang="en-US" sz="2400" dirty="0" smtClean="0"/>
              <a:t> ).</a:t>
            </a:r>
            <a:endParaRPr lang="en-US" sz="2400" dirty="0"/>
          </a:p>
          <a:p>
            <a:pPr lvl="1"/>
            <a:r>
              <a:rPr lang="en-US" sz="2400" dirty="0"/>
              <a:t>The landing page will load as the default interface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36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2" y="1172308"/>
            <a:ext cx="12033226" cy="4780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3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the Landing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Header </a:t>
            </a:r>
            <a:r>
              <a:rPr lang="en-US" b="1" dirty="0"/>
              <a:t>Section</a:t>
            </a:r>
            <a:endParaRPr lang="en-US" dirty="0"/>
          </a:p>
          <a:p>
            <a:pPr lvl="1"/>
            <a:r>
              <a:rPr lang="en-US" dirty="0"/>
              <a:t>Contains the </a:t>
            </a:r>
            <a:r>
              <a:rPr lang="en-US" b="1" dirty="0"/>
              <a:t>search bar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Includes a </a:t>
            </a:r>
            <a:r>
              <a:rPr lang="en-US" b="1" dirty="0"/>
              <a:t>link to download the APK file</a:t>
            </a:r>
            <a:r>
              <a:rPr lang="en-US" dirty="0"/>
              <a:t> for the mobile version.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Content Category Section</a:t>
            </a:r>
            <a:endParaRPr lang="en-US" dirty="0"/>
          </a:p>
          <a:p>
            <a:pPr lvl="1"/>
            <a:r>
              <a:rPr lang="en-US" dirty="0"/>
              <a:t>Displays a </a:t>
            </a:r>
            <a:r>
              <a:rPr lang="en-US" b="1" dirty="0"/>
              <a:t>list of content categories</a:t>
            </a:r>
            <a:r>
              <a:rPr lang="en-US" dirty="0"/>
              <a:t>, each with:</a:t>
            </a:r>
          </a:p>
          <a:p>
            <a:pPr lvl="2"/>
            <a:r>
              <a:rPr lang="en-US" dirty="0"/>
              <a:t>Small image/icon</a:t>
            </a:r>
          </a:p>
          <a:p>
            <a:pPr lvl="2"/>
            <a:r>
              <a:rPr lang="en-US" dirty="0"/>
              <a:t>Category title</a:t>
            </a:r>
          </a:p>
          <a:p>
            <a:pPr lvl="2"/>
            <a:r>
              <a:rPr lang="en-US" dirty="0"/>
              <a:t>Short description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Digital Content Section</a:t>
            </a:r>
            <a:endParaRPr lang="en-US" dirty="0"/>
          </a:p>
          <a:p>
            <a:pPr lvl="1"/>
            <a:r>
              <a:rPr lang="en-US" dirty="0"/>
              <a:t>Shows available </a:t>
            </a:r>
            <a:r>
              <a:rPr lang="en-US" b="1" dirty="0"/>
              <a:t>videos</a:t>
            </a:r>
            <a:r>
              <a:rPr lang="en-US" dirty="0"/>
              <a:t> similar to YouTube layout:</a:t>
            </a:r>
          </a:p>
          <a:p>
            <a:pPr lvl="2"/>
            <a:r>
              <a:rPr lang="en-US" dirty="0"/>
              <a:t>Thumbnail image</a:t>
            </a:r>
          </a:p>
          <a:p>
            <a:pPr lvl="2"/>
            <a:r>
              <a:rPr lang="en-US" dirty="0"/>
              <a:t>Title</a:t>
            </a:r>
          </a:p>
          <a:p>
            <a:pPr lvl="2"/>
            <a:r>
              <a:rPr lang="en-US" dirty="0" smtClean="0"/>
              <a:t>Short description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77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Search 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Simple Search</a:t>
            </a:r>
            <a:endParaRPr lang="en-US" sz="2800" dirty="0"/>
          </a:p>
          <a:p>
            <a:pPr lvl="1"/>
            <a:r>
              <a:rPr lang="en-US" sz="2400" dirty="0"/>
              <a:t>Type a keyword in the search bar → system filters videos by title.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Advanced Search</a:t>
            </a:r>
            <a:endParaRPr lang="en-US" sz="2800" dirty="0"/>
          </a:p>
          <a:p>
            <a:pPr lvl="1"/>
            <a:r>
              <a:rPr lang="en-US" sz="2400" dirty="0"/>
              <a:t>Select filters such as:</a:t>
            </a:r>
          </a:p>
          <a:p>
            <a:pPr lvl="2"/>
            <a:r>
              <a:rPr lang="en-US" sz="2000" b="1" dirty="0"/>
              <a:t>Category</a:t>
            </a:r>
            <a:endParaRPr lang="en-US" sz="2000" dirty="0"/>
          </a:p>
          <a:p>
            <a:pPr lvl="2"/>
            <a:r>
              <a:rPr lang="en-US" sz="2000" b="1" dirty="0"/>
              <a:t>Language</a:t>
            </a:r>
            <a:endParaRPr lang="en-US" sz="2000" dirty="0"/>
          </a:p>
          <a:p>
            <a:pPr lvl="2"/>
            <a:r>
              <a:rPr lang="en-US" sz="2000" b="1" dirty="0"/>
              <a:t>Keyword/Search Query</a:t>
            </a:r>
            <a:endParaRPr lang="en-US" sz="2000" dirty="0"/>
          </a:p>
          <a:p>
            <a:r>
              <a:rPr lang="en-US" sz="2800" dirty="0"/>
              <a:t>The system will display videos matching all selected filters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537" y="5431449"/>
            <a:ext cx="9881843" cy="852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36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 Category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Click a category → view all related videos.</a:t>
            </a:r>
          </a:p>
          <a:p>
            <a:r>
              <a:rPr lang="en-US" sz="2800" dirty="0"/>
              <a:t>Further filter results by </a:t>
            </a:r>
            <a:r>
              <a:rPr lang="en-US" sz="2800" b="1" dirty="0"/>
              <a:t>language</a:t>
            </a:r>
            <a:r>
              <a:rPr lang="en-US" sz="2800" dirty="0"/>
              <a:t> or </a:t>
            </a:r>
            <a:r>
              <a:rPr lang="en-US" sz="2800" b="1" dirty="0"/>
              <a:t>keyword</a:t>
            </a:r>
            <a:r>
              <a:rPr lang="en-US" sz="2800" dirty="0"/>
              <a:t> on the same page.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62" y="2778369"/>
            <a:ext cx="5705475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71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Digital Content </a:t>
            </a:r>
            <a:r>
              <a:rPr lang="en-US" b="1" dirty="0" smtClean="0"/>
              <a:t>Playback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Click </a:t>
            </a:r>
            <a:r>
              <a:rPr lang="en-US" sz="2800" dirty="0"/>
              <a:t>a video → open the video player page.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main video</a:t>
            </a:r>
            <a:r>
              <a:rPr lang="en-US" sz="2800" dirty="0"/>
              <a:t> plays in the center.</a:t>
            </a:r>
          </a:p>
          <a:p>
            <a:r>
              <a:rPr lang="en-US" sz="2800" b="1" dirty="0"/>
              <a:t>Related videos</a:t>
            </a:r>
            <a:r>
              <a:rPr lang="en-US" sz="2800" dirty="0"/>
              <a:t> appear in a sidebar.</a:t>
            </a:r>
          </a:p>
          <a:p>
            <a:r>
              <a:rPr lang="en-US" sz="2800" dirty="0"/>
              <a:t>Clicking a related video replaces the main playback window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728" y="3661221"/>
            <a:ext cx="8226669" cy="2892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06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1: Explore the Landing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Instructions: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Open the DLC system in a browser.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Perform a </a:t>
            </a:r>
            <a:r>
              <a:rPr lang="en-US" sz="2400" b="1" dirty="0"/>
              <a:t>simple search</a:t>
            </a:r>
            <a:r>
              <a:rPr lang="en-US" sz="2400" dirty="0"/>
              <a:t> (e.g., type </a:t>
            </a:r>
            <a:r>
              <a:rPr lang="en-US" sz="2400" dirty="0" smtClean="0"/>
              <a:t>“</a:t>
            </a:r>
            <a:r>
              <a:rPr lang="am-ET" sz="2400" dirty="0"/>
              <a:t>ህጻናት</a:t>
            </a:r>
            <a:r>
              <a:rPr lang="en-US" sz="2400" dirty="0" smtClean="0"/>
              <a:t>”).</a:t>
            </a:r>
            <a:endParaRPr lang="en-US" sz="2400" dirty="0"/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Use </a:t>
            </a:r>
            <a:r>
              <a:rPr lang="en-US" sz="2400" b="1" dirty="0"/>
              <a:t>advanced search</a:t>
            </a:r>
            <a:r>
              <a:rPr lang="en-US" sz="2400" dirty="0"/>
              <a:t> — select a </a:t>
            </a:r>
            <a:r>
              <a:rPr lang="en-US" sz="2400" b="1" dirty="0"/>
              <a:t>category</a:t>
            </a:r>
            <a:r>
              <a:rPr lang="en-US" sz="2400" dirty="0"/>
              <a:t> and </a:t>
            </a:r>
            <a:r>
              <a:rPr lang="en-US" sz="2400" b="1" dirty="0"/>
              <a:t>language</a:t>
            </a:r>
            <a:r>
              <a:rPr lang="en-US" sz="2400" dirty="0"/>
              <a:t> filter.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Play a video and note the related video suggestions.</a:t>
            </a:r>
          </a:p>
          <a:p>
            <a:r>
              <a:rPr lang="en-US" sz="2800" b="1" dirty="0"/>
              <a:t>Expected </a:t>
            </a:r>
            <a:r>
              <a:rPr lang="en-US" sz="2800" b="1" dirty="0" smtClean="0"/>
              <a:t>Outcome:</a:t>
            </a:r>
            <a:endParaRPr lang="en-US" sz="2800" dirty="0" smtClean="0"/>
          </a:p>
          <a:p>
            <a:pPr lvl="1"/>
            <a:r>
              <a:rPr lang="en-US" sz="2400" dirty="0" smtClean="0"/>
              <a:t>Participants can navigate the landing page and effectively search and play content.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17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Login </a:t>
            </a:r>
            <a:r>
              <a:rPr lang="en-US" b="1" dirty="0" smtClean="0"/>
              <a:t>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6893169" cy="4876800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Purpose</a:t>
            </a:r>
            <a:endParaRPr lang="en-US" sz="2800" b="1" dirty="0"/>
          </a:p>
          <a:p>
            <a:pPr lvl="1"/>
            <a:r>
              <a:rPr lang="en-US" sz="2400" dirty="0"/>
              <a:t>The Login Page allows </a:t>
            </a:r>
            <a:r>
              <a:rPr lang="en-US" sz="2400" b="1" dirty="0"/>
              <a:t>registered users</a:t>
            </a:r>
            <a:r>
              <a:rPr lang="en-US" sz="2400" dirty="0"/>
              <a:t> (</a:t>
            </a:r>
            <a:r>
              <a:rPr lang="en-US" sz="2400" dirty="0" smtClean="0"/>
              <a:t>administrators and other) to </a:t>
            </a:r>
            <a:r>
              <a:rPr lang="en-US" sz="2400" dirty="0"/>
              <a:t>securely access the backend dashboard</a:t>
            </a:r>
            <a:r>
              <a:rPr lang="en-US" sz="2400" dirty="0" smtClean="0"/>
              <a:t>.</a:t>
            </a:r>
          </a:p>
          <a:p>
            <a:r>
              <a:rPr lang="en-US" sz="2800" b="1" dirty="0"/>
              <a:t>Steps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Open the system URL: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dlc.gov.et/public/login</a:t>
            </a:r>
            <a:r>
              <a:rPr lang="en-US" dirty="0" smtClean="0"/>
              <a:t> </a:t>
            </a:r>
            <a:endParaRPr lang="en-US" dirty="0"/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Enter your </a:t>
            </a:r>
            <a:r>
              <a:rPr lang="en-US" b="1" dirty="0"/>
              <a:t>email</a:t>
            </a:r>
            <a:r>
              <a:rPr lang="en-US" dirty="0"/>
              <a:t> and </a:t>
            </a:r>
            <a:r>
              <a:rPr lang="en-US" b="1" dirty="0"/>
              <a:t>password</a:t>
            </a:r>
            <a:r>
              <a:rPr lang="en-US" dirty="0"/>
              <a:t>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Sign In</a:t>
            </a:r>
            <a:r>
              <a:rPr lang="en-US" dirty="0"/>
              <a:t>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The system redirects to the </a:t>
            </a:r>
            <a:r>
              <a:rPr lang="en-US" b="1" dirty="0"/>
              <a:t>Dashboard</a:t>
            </a:r>
            <a:r>
              <a:rPr lang="en-US" dirty="0"/>
              <a:t> upon successful authentication.</a:t>
            </a:r>
          </a:p>
          <a:p>
            <a:r>
              <a:rPr lang="en-US" sz="2800" b="1" dirty="0" smtClean="0"/>
              <a:t>Note:</a:t>
            </a:r>
            <a:endParaRPr lang="en-US" sz="2800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login fails, verify credentials or reset the password as per system policy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749" y="1064969"/>
            <a:ext cx="3562350" cy="496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27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2: Access the </a:t>
            </a:r>
            <a:r>
              <a:rPr lang="en-US" b="1" dirty="0" smtClean="0"/>
              <a:t>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Instructions</a:t>
            </a:r>
            <a:r>
              <a:rPr lang="en-US" sz="3200" b="1" dirty="0"/>
              <a:t>: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Log in using provided training credentials.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Observe the dashboard layout and note visible modules.</a:t>
            </a:r>
          </a:p>
          <a:p>
            <a:r>
              <a:rPr lang="en-US" sz="3200" b="1" dirty="0"/>
              <a:t>Expected </a:t>
            </a:r>
            <a:r>
              <a:rPr lang="en-US" sz="3200" b="1" dirty="0" smtClean="0"/>
              <a:t>Outcome:</a:t>
            </a:r>
            <a:endParaRPr lang="en-US" sz="3200" dirty="0" smtClean="0"/>
          </a:p>
          <a:p>
            <a:pPr lvl="1"/>
            <a:r>
              <a:rPr lang="en-US" sz="2800" dirty="0" smtClean="0"/>
              <a:t>Participants </a:t>
            </a:r>
            <a:r>
              <a:rPr lang="en-US" sz="2800" dirty="0"/>
              <a:t>can log in and identify backend dashboard components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5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Purpose</a:t>
            </a:r>
            <a:endParaRPr lang="en-US" sz="2800" b="1" dirty="0"/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Dashboard</a:t>
            </a:r>
            <a:r>
              <a:rPr lang="en-US" sz="2400" dirty="0"/>
              <a:t> provides an overview of system metrics and administrative tools.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831" y="2743200"/>
            <a:ext cx="9131669" cy="3915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510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Dashboard </a:t>
            </a:r>
            <a:r>
              <a:rPr lang="en-US" b="1" dirty="0" smtClean="0"/>
              <a:t>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 smtClean="0"/>
              <a:t>Display </a:t>
            </a:r>
            <a:r>
              <a:rPr lang="en-US" sz="2800" b="1" dirty="0"/>
              <a:t>Counters</a:t>
            </a:r>
            <a:endParaRPr lang="en-US" sz="2800" dirty="0"/>
          </a:p>
          <a:p>
            <a:pPr lvl="1"/>
            <a:r>
              <a:rPr lang="en-US" sz="2400" dirty="0"/>
              <a:t>Number of total employees</a:t>
            </a:r>
          </a:p>
          <a:p>
            <a:pPr lvl="1"/>
            <a:r>
              <a:rPr lang="en-US" sz="2400" dirty="0"/>
              <a:t>Number of total customers</a:t>
            </a:r>
          </a:p>
          <a:p>
            <a:pPr lvl="1"/>
            <a:r>
              <a:rPr lang="en-US" sz="2400" dirty="0"/>
              <a:t>Total number of content categories</a:t>
            </a:r>
          </a:p>
          <a:p>
            <a:pPr lvl="1"/>
            <a:r>
              <a:rPr lang="en-US" sz="2400" dirty="0"/>
              <a:t>Total number of digital content uploaded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/>
              <a:t>Digital </a:t>
            </a:r>
            <a:r>
              <a:rPr lang="en-US" sz="2800" b="1" dirty="0"/>
              <a:t>Content Analytical Report</a:t>
            </a:r>
            <a:endParaRPr lang="en-US" sz="2800" dirty="0"/>
          </a:p>
          <a:p>
            <a:pPr lvl="1"/>
            <a:r>
              <a:rPr lang="en-US" sz="2400" dirty="0"/>
              <a:t>Table showing number of videos by </a:t>
            </a:r>
            <a:r>
              <a:rPr lang="en-US" sz="2400" b="1" dirty="0"/>
              <a:t>category</a:t>
            </a:r>
            <a:r>
              <a:rPr lang="en-US" sz="2400" dirty="0"/>
              <a:t> and </a:t>
            </a:r>
            <a:r>
              <a:rPr lang="en-US" sz="2400" b="1" dirty="0"/>
              <a:t>language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/>
              <a:t>Upload </a:t>
            </a:r>
            <a:r>
              <a:rPr lang="en-US" sz="2800" b="1" dirty="0"/>
              <a:t>Progress Tracker</a:t>
            </a:r>
            <a:endParaRPr lang="en-US" sz="2800" dirty="0"/>
          </a:p>
          <a:p>
            <a:pPr lvl="1"/>
            <a:r>
              <a:rPr lang="en-US" sz="2400" dirty="0"/>
              <a:t>Progress bar showing content upload completion for each category:</a:t>
            </a:r>
          </a:p>
          <a:p>
            <a:pPr lvl="2"/>
            <a:r>
              <a:rPr lang="en-US" sz="2000" dirty="0"/>
              <a:t>Expected total uploads </a:t>
            </a:r>
            <a:r>
              <a:rPr lang="en-US" sz="2000" dirty="0" err="1"/>
              <a:t>vs</a:t>
            </a:r>
            <a:r>
              <a:rPr lang="en-US" sz="2000" dirty="0"/>
              <a:t> actual uploaded </a:t>
            </a:r>
            <a:r>
              <a:rPr lang="en-US" sz="2000" dirty="0" smtClean="0"/>
              <a:t>count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10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3: Analyze the </a:t>
            </a:r>
            <a:r>
              <a:rPr lang="en-US" b="1" dirty="0" smtClean="0"/>
              <a:t>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Instructions</a:t>
            </a:r>
            <a:r>
              <a:rPr lang="en-US" sz="3200" b="1" dirty="0"/>
              <a:t>:</a:t>
            </a:r>
            <a:endParaRPr lang="en-US" sz="3200" dirty="0"/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Explore the dashboard counters and note key system statistics.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Identify which content category is least complete based on the upload tracker.</a:t>
            </a:r>
          </a:p>
          <a:p>
            <a:r>
              <a:rPr lang="en-US" sz="3200" b="1" dirty="0"/>
              <a:t>Expected </a:t>
            </a:r>
            <a:r>
              <a:rPr lang="en-US" sz="3200" b="1" dirty="0" smtClean="0"/>
              <a:t>Outcome:</a:t>
            </a:r>
            <a:endParaRPr lang="en-US" sz="3200" dirty="0" smtClean="0"/>
          </a:p>
          <a:p>
            <a:pPr lvl="1"/>
            <a:r>
              <a:rPr lang="en-US" sz="2800" dirty="0" smtClean="0"/>
              <a:t>Participants </a:t>
            </a:r>
            <a:r>
              <a:rPr lang="en-US" sz="2800" dirty="0"/>
              <a:t>can interpret and explain dashboard metrics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73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Profile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Purpose</a:t>
            </a:r>
            <a:endParaRPr lang="en-US" sz="2800" b="1" dirty="0"/>
          </a:p>
          <a:p>
            <a:pPr lvl="1"/>
            <a:r>
              <a:rPr lang="en-US" sz="2400" dirty="0"/>
              <a:t>Allows authenticated users to manage personal settings and update account credentials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665" y="2790094"/>
            <a:ext cx="8843221" cy="3598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574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Available </a:t>
            </a:r>
            <a:r>
              <a:rPr lang="en-US" b="1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Theme </a:t>
            </a:r>
            <a:r>
              <a:rPr lang="en-US" b="1" dirty="0"/>
              <a:t>Settings:</a:t>
            </a:r>
            <a:endParaRPr lang="en-US" dirty="0"/>
          </a:p>
          <a:p>
            <a:pPr lvl="1"/>
            <a:r>
              <a:rPr lang="en-US" dirty="0"/>
              <a:t>Switch between light or dark mode.</a:t>
            </a:r>
          </a:p>
          <a:p>
            <a:r>
              <a:rPr lang="en-US" b="1" dirty="0"/>
              <a:t>Password Management:</a:t>
            </a:r>
            <a:endParaRPr lang="en-US" dirty="0"/>
          </a:p>
          <a:p>
            <a:pPr lvl="1"/>
            <a:r>
              <a:rPr lang="en-US" dirty="0"/>
              <a:t>Enter current password.</a:t>
            </a:r>
          </a:p>
          <a:p>
            <a:pPr lvl="1"/>
            <a:r>
              <a:rPr lang="en-US" dirty="0"/>
              <a:t>Enter and confirm new password.</a:t>
            </a:r>
          </a:p>
          <a:p>
            <a:pPr lvl="1"/>
            <a:r>
              <a:rPr lang="en-US" dirty="0"/>
              <a:t>Click </a:t>
            </a:r>
            <a:r>
              <a:rPr lang="en-US" b="1" dirty="0"/>
              <a:t>Save</a:t>
            </a:r>
            <a:r>
              <a:rPr lang="en-US" dirty="0"/>
              <a:t>.</a:t>
            </a:r>
          </a:p>
          <a:p>
            <a:r>
              <a:rPr lang="en-US" b="1" dirty="0"/>
              <a:t>Password Policy:</a:t>
            </a:r>
            <a:endParaRPr lang="en-US" dirty="0"/>
          </a:p>
          <a:p>
            <a:pPr lvl="1"/>
            <a:r>
              <a:rPr lang="en-US" dirty="0"/>
              <a:t>Minimum 8 characters</a:t>
            </a:r>
          </a:p>
          <a:p>
            <a:pPr lvl="1"/>
            <a:r>
              <a:rPr lang="en-US" dirty="0"/>
              <a:t>At least 1 uppercase letter</a:t>
            </a:r>
          </a:p>
          <a:p>
            <a:pPr lvl="1"/>
            <a:r>
              <a:rPr lang="en-US" dirty="0"/>
              <a:t>At least 1 lowercase letter</a:t>
            </a:r>
          </a:p>
          <a:p>
            <a:pPr lvl="1"/>
            <a:r>
              <a:rPr lang="en-US" dirty="0"/>
              <a:t>At least 1 digit</a:t>
            </a:r>
          </a:p>
          <a:p>
            <a:pPr lvl="1"/>
            <a:r>
              <a:rPr lang="en-US" dirty="0"/>
              <a:t>At least 1 special symbol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3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Exercise 4: Update Profile </a:t>
            </a:r>
            <a:r>
              <a:rPr lang="en-US" b="1" dirty="0" smtClean="0"/>
              <a:t>Settings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Instructions</a:t>
            </a:r>
            <a:r>
              <a:rPr lang="en-US" sz="3200" b="1" dirty="0"/>
              <a:t>:</a:t>
            </a:r>
            <a:endParaRPr lang="en-US" sz="3200" dirty="0"/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Change the dashboard theme (light ↔ dark).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Attempt to update your password following the password policy.</a:t>
            </a:r>
          </a:p>
          <a:p>
            <a:r>
              <a:rPr lang="en-US" sz="3200" b="1" dirty="0"/>
              <a:t>Expected </a:t>
            </a:r>
            <a:r>
              <a:rPr lang="en-US" sz="3200" b="1" dirty="0" smtClean="0"/>
              <a:t>Outcome:</a:t>
            </a:r>
            <a:endParaRPr lang="en-US" sz="3200" dirty="0" smtClean="0"/>
          </a:p>
          <a:p>
            <a:pPr lvl="1"/>
            <a:r>
              <a:rPr lang="en-US" sz="2800" dirty="0" smtClean="0"/>
              <a:t>Participants </a:t>
            </a:r>
            <a:r>
              <a:rPr lang="en-US" sz="2800" dirty="0"/>
              <a:t>can update user preferences and securely change passwords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15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Discussion &amp; Q&amp;A (10 minutes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What </a:t>
            </a:r>
            <a:r>
              <a:rPr lang="en-US" sz="3200" dirty="0"/>
              <a:t>challenges might users face while searching content?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How can the dashboard data improve content management?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What password policy enforcement mechanisms are most effective?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6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Exploring the DLC Content </a:t>
            </a:r>
            <a:r>
              <a:rPr lang="en-US" b="1" dirty="0" smtClean="0"/>
              <a:t>Management System (continue)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Manage </a:t>
            </a:r>
            <a:r>
              <a:rPr lang="en-US" sz="2100" dirty="0"/>
              <a:t>employee and customer profiles within the DLC admin portal.</a:t>
            </a:r>
          </a:p>
          <a:p>
            <a:pPr lvl="1"/>
            <a:r>
              <a:rPr lang="en-US" sz="2100" dirty="0"/>
              <a:t>Create, edit, and organize content categories for multilingual access.</a:t>
            </a:r>
          </a:p>
          <a:p>
            <a:pPr lvl="1"/>
            <a:r>
              <a:rPr lang="en-US" sz="2100" dirty="0"/>
              <a:t>Upload and manage digital learning videos and related media.</a:t>
            </a:r>
          </a:p>
          <a:p>
            <a:pPr lvl="1"/>
            <a:r>
              <a:rPr lang="en-US" sz="2100" dirty="0"/>
              <a:t>Understand metadata management and how it supports search and analytics.</a:t>
            </a:r>
          </a:p>
          <a:p>
            <a:pPr lvl="1"/>
            <a:r>
              <a:rPr lang="en-US" sz="2100" dirty="0"/>
              <a:t>Practice secure and consistent data entry standards for all content types.</a:t>
            </a:r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069340" y="5702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>
                <a:sym typeface="+mn-ea"/>
              </a:rPr>
              <a:t>Session - </a:t>
            </a:r>
            <a:r>
              <a:rPr lang="" altLang="en-US" b="1">
                <a:sym typeface="+mn-ea"/>
              </a:rPr>
              <a:t>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1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Employee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Purpose:</a:t>
            </a:r>
            <a:endParaRPr lang="en-US" dirty="0" smtClean="0"/>
          </a:p>
          <a:p>
            <a:pPr lvl="1"/>
            <a:r>
              <a:rPr lang="en-US" dirty="0" smtClean="0"/>
              <a:t>To </a:t>
            </a:r>
            <a:r>
              <a:rPr lang="en-US" dirty="0"/>
              <a:t>manage system users who have administrative or content management roles. This module allows authorized users to add, edit, or remove employee accounts with defined permissions and roles.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22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971" y="3108307"/>
            <a:ext cx="10699800" cy="34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39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Employee Management - Operations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Steps:</a:t>
            </a:r>
            <a:endParaRPr lang="en-US" sz="3200" dirty="0"/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From the sidebar, click </a:t>
            </a:r>
            <a:r>
              <a:rPr lang="en-US" sz="2800" b="1" dirty="0"/>
              <a:t>“Employee.”</a:t>
            </a:r>
            <a:endParaRPr lang="en-US" sz="2800" dirty="0"/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The system displays a list of registered employees.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Perform the following operations:</a:t>
            </a:r>
          </a:p>
          <a:p>
            <a:pPr lvl="2"/>
            <a:r>
              <a:rPr lang="en-US" sz="2400" b="1" dirty="0"/>
              <a:t>Add New Employee</a:t>
            </a:r>
            <a:r>
              <a:rPr lang="en-US" sz="2400" dirty="0"/>
              <a:t>: Fill out personal and role-based metadata.</a:t>
            </a:r>
          </a:p>
          <a:p>
            <a:pPr lvl="2"/>
            <a:r>
              <a:rPr lang="en-US" sz="2400" b="1" dirty="0"/>
              <a:t>Edit Employee</a:t>
            </a:r>
            <a:r>
              <a:rPr lang="en-US" sz="2400" dirty="0"/>
              <a:t>: Update profile information and save changes.</a:t>
            </a:r>
          </a:p>
          <a:p>
            <a:pPr lvl="2"/>
            <a:r>
              <a:rPr lang="en-US" sz="2400" b="1" dirty="0"/>
              <a:t>Delete Employee</a:t>
            </a:r>
            <a:r>
              <a:rPr lang="en-US" sz="2400" dirty="0"/>
              <a:t>: Remove outdated or duplicate profiles.</a:t>
            </a:r>
          </a:p>
          <a:p>
            <a:pPr lvl="2"/>
            <a:r>
              <a:rPr lang="en-US" sz="2400" b="1" dirty="0"/>
              <a:t>Search Employee</a:t>
            </a:r>
            <a:r>
              <a:rPr lang="en-US" sz="2400" dirty="0"/>
              <a:t>: Locate specific users using the search bar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5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1 : Hands-on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Add </a:t>
            </a:r>
            <a:r>
              <a:rPr lang="en-US" sz="3200" dirty="0"/>
              <a:t>one new employee profile using the provided metadata.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Edit an existing profile (e.g., update contact info).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Search for a specific employee by name.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Delete a test account safely.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Customer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Purpose:</a:t>
            </a:r>
            <a:endParaRPr lang="en-US" dirty="0"/>
          </a:p>
          <a:p>
            <a:pPr lvl="1"/>
            <a:r>
              <a:rPr lang="en-US" dirty="0" smtClean="0"/>
              <a:t>To </a:t>
            </a:r>
            <a:r>
              <a:rPr lang="en-US" dirty="0"/>
              <a:t>view and monitor customer (mobile app user) accounts who access the DLC </a:t>
            </a:r>
            <a:r>
              <a:rPr lang="en-US" dirty="0" smtClean="0"/>
              <a:t>content.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helps administrators understand user engagement levels and troubleshoot login or profile issues.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40" y="3184252"/>
            <a:ext cx="10923365" cy="321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984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Customer Management </a:t>
            </a:r>
            <a:r>
              <a:rPr lang="en-US" b="1" dirty="0"/>
              <a:t>-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Steps: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From the sidebar, click </a:t>
            </a:r>
            <a:r>
              <a:rPr lang="en-US" sz="2800" b="1" dirty="0"/>
              <a:t>“Customer.”</a:t>
            </a: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The system displays all registered mobile app users.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800" dirty="0"/>
              <a:t>Use the </a:t>
            </a:r>
            <a:r>
              <a:rPr lang="en-US" sz="2800" b="1" dirty="0"/>
              <a:t>search box</a:t>
            </a:r>
            <a:r>
              <a:rPr lang="en-US" sz="2800" dirty="0"/>
              <a:t> to filter users by name, mobile, or email.</a:t>
            </a:r>
          </a:p>
          <a:p>
            <a:r>
              <a:rPr lang="en-US" sz="3200" b="1" dirty="0" smtClean="0"/>
              <a:t>Note</a:t>
            </a:r>
            <a:r>
              <a:rPr lang="en-US" sz="3200" dirty="0"/>
              <a:t>: Editing and deleting customer accounts are restricted — customers manage their own profiles from the mobile app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95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 : </a:t>
            </a:r>
            <a:r>
              <a:rPr lang="en-US" b="1" dirty="0"/>
              <a:t>Hands-on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Search </a:t>
            </a:r>
            <a:r>
              <a:rPr lang="en-US" sz="3200" dirty="0"/>
              <a:t>for a specific customer profile by mobile number or name.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Observe the data structure (what info is displayed for each user</a:t>
            </a:r>
            <a:r>
              <a:rPr lang="en-US" sz="3200" dirty="0" smtClean="0"/>
              <a:t>).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1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Content Category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Purpose:</a:t>
            </a:r>
            <a:endParaRPr lang="en-US" dirty="0" smtClean="0"/>
          </a:p>
          <a:p>
            <a:pPr lvl="1"/>
            <a:r>
              <a:rPr lang="en-US" dirty="0" smtClean="0"/>
              <a:t>To </a:t>
            </a:r>
            <a:r>
              <a:rPr lang="en-US" dirty="0"/>
              <a:t>define and organize content areas (e.g., Health, Education, Agriculture) so users can browse digital learning materials efficiently.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78" y="2814446"/>
            <a:ext cx="9894277" cy="383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914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Content Category Management </a:t>
            </a:r>
            <a:r>
              <a:rPr lang="en-US" b="1" dirty="0"/>
              <a:t>-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Steps:</a:t>
            </a:r>
            <a:endParaRPr lang="en-US" sz="3200" dirty="0"/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Click </a:t>
            </a:r>
            <a:r>
              <a:rPr lang="en-US" sz="2800" b="1" dirty="0"/>
              <a:t>“Content Category”</a:t>
            </a:r>
            <a:r>
              <a:rPr lang="en-US" sz="2800" dirty="0"/>
              <a:t> from the sidebar.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The system shows all categories currently available.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Perform the following:</a:t>
            </a:r>
          </a:p>
          <a:p>
            <a:pPr lvl="2"/>
            <a:r>
              <a:rPr lang="en-US" sz="2400" b="1" dirty="0"/>
              <a:t>Add New Category</a:t>
            </a:r>
            <a:r>
              <a:rPr lang="en-US" sz="2400" dirty="0"/>
              <a:t>: Provide multilingual titles, descriptions, and a category image (rename field as </a:t>
            </a:r>
            <a:r>
              <a:rPr lang="en-US" sz="2400" b="1" dirty="0"/>
              <a:t>Category Icon</a:t>
            </a:r>
            <a:r>
              <a:rPr lang="en-US" sz="2400" dirty="0"/>
              <a:t> for clarity).</a:t>
            </a:r>
          </a:p>
          <a:p>
            <a:pPr lvl="2"/>
            <a:r>
              <a:rPr lang="en-US" sz="2400" b="1" dirty="0"/>
              <a:t>Edit Category</a:t>
            </a:r>
            <a:r>
              <a:rPr lang="en-US" sz="2400" dirty="0"/>
              <a:t>: Modify existing category details.</a:t>
            </a:r>
          </a:p>
          <a:p>
            <a:pPr lvl="2"/>
            <a:r>
              <a:rPr lang="en-US" sz="2400" b="1" dirty="0"/>
              <a:t>Delete Category</a:t>
            </a:r>
            <a:r>
              <a:rPr lang="en-US" sz="2400" dirty="0"/>
              <a:t>: Remove outdated categories.</a:t>
            </a:r>
          </a:p>
          <a:p>
            <a:pPr lvl="2"/>
            <a:r>
              <a:rPr lang="en-US" sz="2400" b="1" dirty="0"/>
              <a:t>Search Category</a:t>
            </a:r>
            <a:r>
              <a:rPr lang="en-US" sz="2400" dirty="0"/>
              <a:t>: Use the search bar to find specific categories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23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3 : </a:t>
            </a:r>
            <a:r>
              <a:rPr lang="en-US" b="1" dirty="0"/>
              <a:t>Hands-on Task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Add </a:t>
            </a:r>
            <a:r>
              <a:rPr lang="en-US" sz="3200" dirty="0"/>
              <a:t>a new content category titled “Digital Skills” with English and Amharic titles.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Upload a relevant icon.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Edit an existing category to update its description.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Search for the newly added category.</a:t>
            </a:r>
          </a:p>
          <a:p>
            <a:pPr marL="731520" lvl="1" indent="-457200">
              <a:buFont typeface="+mj-lt"/>
              <a:buAutoNum type="arabicPeriod"/>
            </a:pP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9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Digital Content </a:t>
            </a:r>
            <a:r>
              <a:rPr lang="en-US" b="1" dirty="0" smtClean="0"/>
              <a:t>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Purpose:</a:t>
            </a:r>
            <a:endParaRPr lang="en-US" dirty="0" smtClean="0"/>
          </a:p>
          <a:p>
            <a:pPr lvl="1"/>
            <a:r>
              <a:rPr lang="en-US" dirty="0" smtClean="0"/>
              <a:t>To </a:t>
            </a:r>
            <a:r>
              <a:rPr lang="en-US" dirty="0"/>
              <a:t>upload and manage actual learning materials (</a:t>
            </a:r>
            <a:r>
              <a:rPr lang="en-US" dirty="0" smtClean="0"/>
              <a:t>videos) </a:t>
            </a:r>
            <a:r>
              <a:rPr lang="en-US" dirty="0"/>
              <a:t>under defined categories and languages.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73916"/>
            <a:ext cx="10855569" cy="377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062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Digital Content Management </a:t>
            </a:r>
            <a:r>
              <a:rPr lang="en-US" b="1" dirty="0"/>
              <a:t>-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Steps:</a:t>
            </a:r>
            <a:endParaRPr lang="en-US" sz="3200" dirty="0"/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“Digital Content”</a:t>
            </a:r>
            <a:r>
              <a:rPr lang="en-US" dirty="0"/>
              <a:t> from the sidebar.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The system lists all available learning contents.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Perform the following:</a:t>
            </a:r>
          </a:p>
          <a:p>
            <a:pPr lvl="2"/>
            <a:r>
              <a:rPr lang="en-US" b="1" dirty="0"/>
              <a:t>Add New Digital Content:</a:t>
            </a:r>
            <a:r>
              <a:rPr lang="en-US" dirty="0"/>
              <a:t> Fill metadata and upload media:</a:t>
            </a:r>
          </a:p>
          <a:p>
            <a:pPr lvl="3"/>
            <a:r>
              <a:rPr lang="en-US" dirty="0"/>
              <a:t>Title (based on language</a:t>
            </a:r>
            <a:r>
              <a:rPr lang="en-US" dirty="0" smtClean="0"/>
              <a:t>) , Description, Category selection, Language, Upload </a:t>
            </a:r>
            <a:r>
              <a:rPr lang="en-US" dirty="0"/>
              <a:t>video </a:t>
            </a:r>
            <a:r>
              <a:rPr lang="en-US" dirty="0" smtClean="0"/>
              <a:t>file, and Attach </a:t>
            </a:r>
            <a:r>
              <a:rPr lang="en-US" dirty="0"/>
              <a:t>video poster (thumbnail)</a:t>
            </a:r>
          </a:p>
          <a:p>
            <a:pPr lvl="2"/>
            <a:r>
              <a:rPr lang="en-US" b="1" dirty="0"/>
              <a:t>Edit Digital Content:</a:t>
            </a:r>
            <a:r>
              <a:rPr lang="en-US" dirty="0"/>
              <a:t> Update metadata or replace video/poster.</a:t>
            </a:r>
          </a:p>
          <a:p>
            <a:pPr lvl="2"/>
            <a:r>
              <a:rPr lang="en-US" b="1" dirty="0"/>
              <a:t>Delete Content:</a:t>
            </a:r>
            <a:r>
              <a:rPr lang="en-US" dirty="0"/>
              <a:t> Confirm deletion with the system alert.</a:t>
            </a:r>
          </a:p>
          <a:p>
            <a:pPr lvl="2"/>
            <a:r>
              <a:rPr lang="en-US" b="1" dirty="0"/>
              <a:t>Search Content:</a:t>
            </a:r>
            <a:r>
              <a:rPr lang="en-US" dirty="0"/>
              <a:t> Filter by title, category, or language.</a:t>
            </a:r>
          </a:p>
          <a:p>
            <a:pPr lvl="2"/>
            <a:r>
              <a:rPr lang="en-US" b="1" dirty="0"/>
              <a:t>View Content:</a:t>
            </a:r>
            <a:r>
              <a:rPr lang="en-US" dirty="0"/>
              <a:t> Preview uploaded video with play/pause, volume, full-screen, and picture-in-picture controls.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4 : </a:t>
            </a:r>
            <a:r>
              <a:rPr lang="en-US" b="1" dirty="0"/>
              <a:t>Hands-on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Upload </a:t>
            </a:r>
            <a:r>
              <a:rPr lang="en-US" sz="3200" dirty="0"/>
              <a:t>one sample video under a new category.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Edit its description and language metadata.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Test the search function using part of the video title.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Play the uploaded video to verify streaming functionality.</a:t>
            </a:r>
          </a:p>
          <a:p>
            <a:pPr marL="731520" lvl="1" indent="-457200">
              <a:buFont typeface="+mj-lt"/>
              <a:buAutoNum type="arabicPeriod"/>
            </a:pPr>
            <a:endParaRPr lang="en-US" sz="2800" dirty="0"/>
          </a:p>
          <a:p>
            <a:pPr marL="731520" lvl="1" indent="-457200">
              <a:buFont typeface="+mj-lt"/>
              <a:buAutoNum type="arabicPeriod"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29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Q&amp;A and </a:t>
            </a:r>
            <a:r>
              <a:rPr lang="en-US" b="1" dirty="0" smtClean="0"/>
              <a:t>Reflection (15 </a:t>
            </a:r>
            <a:r>
              <a:rPr lang="en-US" b="1" dirty="0"/>
              <a:t>minutes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What </a:t>
            </a:r>
            <a:r>
              <a:rPr lang="en-US" sz="3200" dirty="0"/>
              <a:t>metadata fields are critical for content search and analytics?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How can administrators ensure content is inclusive and accessible</a:t>
            </a:r>
            <a:r>
              <a:rPr lang="en-US" sz="3200" dirty="0" smtClean="0"/>
              <a:t>?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56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ym typeface="+mn-ea"/>
              </a:rPr>
              <a:t>Backend &amp; Frontend Editing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dirty="0" smtClean="0"/>
              <a:t>Understand </a:t>
            </a:r>
            <a:r>
              <a:rPr lang="en-US" dirty="0"/>
              <a:t>the </a:t>
            </a:r>
            <a:r>
              <a:rPr lang="en-US" dirty="0" err="1"/>
              <a:t>Laravel</a:t>
            </a:r>
            <a:r>
              <a:rPr lang="en-US" dirty="0"/>
              <a:t> folder structure and how backend and frontend components interact.</a:t>
            </a:r>
          </a:p>
          <a:p>
            <a:pPr lvl="1"/>
            <a:r>
              <a:rPr lang="en-US" dirty="0"/>
              <a:t>Navigate and edit key parts of the system such as the landing page, login page, dashboard, and profile management sections.</a:t>
            </a:r>
          </a:p>
          <a:p>
            <a:pPr lvl="1"/>
            <a:r>
              <a:rPr lang="en-US" dirty="0"/>
              <a:t>Modify backend logic (controllers, models, routes) and frontend views safely.</a:t>
            </a:r>
          </a:p>
          <a:p>
            <a:pPr lvl="1"/>
            <a:r>
              <a:rPr lang="en-US" dirty="0"/>
              <a:t>Configure and test database connections within the </a:t>
            </a:r>
            <a:r>
              <a:rPr lang="en-US" dirty="0" err="1"/>
              <a:t>Laravel</a:t>
            </a:r>
            <a:r>
              <a:rPr lang="en-US" dirty="0"/>
              <a:t> environment.</a:t>
            </a:r>
          </a:p>
          <a:p>
            <a:pPr lvl="1"/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609600" y="570232"/>
            <a:ext cx="109753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ym typeface="+mn-ea"/>
              </a:rPr>
              <a:t>Session - </a:t>
            </a:r>
            <a:r>
              <a:rPr lang="" altLang="en-US" b="1" dirty="0">
                <a:sym typeface="+mn-ea"/>
              </a:rPr>
              <a:t>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Code </a:t>
            </a:r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err="1" smtClean="0"/>
              <a:t>Laravel</a:t>
            </a:r>
            <a:r>
              <a:rPr lang="en-US" sz="2800" b="1" dirty="0" smtClean="0"/>
              <a:t> </a:t>
            </a:r>
            <a:r>
              <a:rPr lang="en-US" sz="2800" b="1" dirty="0"/>
              <a:t>Project Structure </a:t>
            </a:r>
            <a:r>
              <a:rPr lang="en-US" sz="2800" b="1" dirty="0" smtClean="0"/>
              <a:t>Overview</a:t>
            </a:r>
            <a:endParaRPr lang="en-US" sz="2800" dirty="0" smtClean="0"/>
          </a:p>
          <a:p>
            <a:pPr lvl="1"/>
            <a:r>
              <a:rPr lang="en-US" sz="2400" dirty="0" err="1" smtClean="0"/>
              <a:t>Laravel</a:t>
            </a:r>
            <a:r>
              <a:rPr lang="en-US" sz="2400" dirty="0" smtClean="0"/>
              <a:t> </a:t>
            </a:r>
            <a:r>
              <a:rPr lang="en-US" sz="2400" dirty="0"/>
              <a:t>follows the </a:t>
            </a:r>
            <a:r>
              <a:rPr lang="en-US" sz="2400" b="1" dirty="0"/>
              <a:t>MVC (Model-View-Controller)</a:t>
            </a:r>
            <a:r>
              <a:rPr lang="en-US" sz="2400" dirty="0"/>
              <a:t> pattern:</a:t>
            </a:r>
          </a:p>
          <a:p>
            <a:pPr lvl="2"/>
            <a:r>
              <a:rPr lang="en-US" sz="2000" b="1" dirty="0"/>
              <a:t>Model</a:t>
            </a:r>
            <a:r>
              <a:rPr lang="en-US" sz="2000" dirty="0"/>
              <a:t> – Represents the database structure and logic.</a:t>
            </a:r>
          </a:p>
          <a:p>
            <a:pPr lvl="2"/>
            <a:r>
              <a:rPr lang="en-US" sz="2000" b="1" dirty="0"/>
              <a:t>View</a:t>
            </a:r>
            <a:r>
              <a:rPr lang="en-US" sz="2000" dirty="0"/>
              <a:t> – Manages what users see (HTML + Blade templates).</a:t>
            </a:r>
          </a:p>
          <a:p>
            <a:pPr lvl="2"/>
            <a:r>
              <a:rPr lang="en-US" sz="2000" b="1" dirty="0"/>
              <a:t>Controller</a:t>
            </a:r>
            <a:r>
              <a:rPr lang="en-US" sz="2000" dirty="0"/>
              <a:t> – Connects models to views and handles logic.</a:t>
            </a:r>
          </a:p>
          <a:p>
            <a:pPr lvl="2"/>
            <a:r>
              <a:rPr lang="en-US" sz="2000" b="1" dirty="0"/>
              <a:t>Routes</a:t>
            </a:r>
            <a:r>
              <a:rPr lang="en-US" sz="2000" dirty="0"/>
              <a:t> – Define which controller methods are called for specific URLs.</a:t>
            </a:r>
          </a:p>
          <a:p>
            <a:r>
              <a:rPr lang="en-US" sz="2800" b="1" dirty="0"/>
              <a:t>Key Folders:</a:t>
            </a:r>
            <a:endParaRPr lang="en-US" sz="2800" dirty="0"/>
          </a:p>
          <a:p>
            <a:pPr lvl="1"/>
            <a:r>
              <a:rPr lang="en-US" sz="2400" dirty="0"/>
              <a:t>/app/Models → Database models</a:t>
            </a:r>
          </a:p>
          <a:p>
            <a:pPr lvl="1"/>
            <a:r>
              <a:rPr lang="en-US" sz="2400" dirty="0"/>
              <a:t>/app/Http/Controllers → Backend logic</a:t>
            </a:r>
          </a:p>
          <a:p>
            <a:pPr lvl="1"/>
            <a:r>
              <a:rPr lang="en-US" sz="2400" dirty="0"/>
              <a:t>/resources/views → Frontend pages (Blade templates)</a:t>
            </a:r>
          </a:p>
          <a:p>
            <a:pPr lvl="1"/>
            <a:r>
              <a:rPr lang="en-US" sz="2400" dirty="0"/>
              <a:t>/routes/</a:t>
            </a:r>
            <a:r>
              <a:rPr lang="en-US" sz="2400" dirty="0" err="1"/>
              <a:t>web.php</a:t>
            </a:r>
            <a:r>
              <a:rPr lang="en-US" sz="2400" dirty="0"/>
              <a:t> → Web route </a:t>
            </a:r>
            <a:r>
              <a:rPr lang="en-US" sz="2400" dirty="0" smtClean="0"/>
              <a:t>definitions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0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Exercise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Open </a:t>
            </a:r>
            <a:r>
              <a:rPr lang="en-US" sz="2800" dirty="0"/>
              <a:t>the </a:t>
            </a:r>
            <a:r>
              <a:rPr lang="en-US" sz="2800" dirty="0" err="1"/>
              <a:t>Laravel</a:t>
            </a:r>
            <a:r>
              <a:rPr lang="en-US" sz="2800" dirty="0"/>
              <a:t> project folder in VS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Identify and open the above folders.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Discuss the purpose of each folder briefly.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66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Database Connection </a:t>
            </a:r>
            <a:r>
              <a:rPr lang="en-US" b="1" dirty="0" smtClean="0"/>
              <a:t>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Configuring </a:t>
            </a:r>
            <a:r>
              <a:rPr lang="en-US" sz="2800" b="1" dirty="0"/>
              <a:t>Database Connection</a:t>
            </a:r>
            <a:endParaRPr lang="en-US" sz="2800" dirty="0"/>
          </a:p>
          <a:p>
            <a:pPr lvl="1"/>
            <a:r>
              <a:rPr lang="en-US" sz="2400" dirty="0"/>
              <a:t>Locate the </a:t>
            </a:r>
            <a:r>
              <a:rPr lang="en-US" sz="2400" b="1" dirty="0"/>
              <a:t>.</a:t>
            </a:r>
            <a:r>
              <a:rPr lang="en-US" sz="2400" b="1" dirty="0" err="1"/>
              <a:t>env</a:t>
            </a:r>
            <a:r>
              <a:rPr lang="en-US" sz="2400" b="1" dirty="0"/>
              <a:t> </a:t>
            </a:r>
            <a:r>
              <a:rPr lang="en-US" sz="2400" dirty="0"/>
              <a:t>file in the root folder.</a:t>
            </a:r>
          </a:p>
          <a:p>
            <a:pPr lvl="1"/>
            <a:r>
              <a:rPr lang="en-US" sz="2400" dirty="0"/>
              <a:t>Update database credentials:</a:t>
            </a:r>
          </a:p>
          <a:p>
            <a:pPr lvl="2"/>
            <a:r>
              <a:rPr lang="en-US" sz="2000" b="1" dirty="0"/>
              <a:t>DB_CONNECTION=</a:t>
            </a:r>
            <a:r>
              <a:rPr lang="en-US" sz="2000" b="1" dirty="0" err="1"/>
              <a:t>mysql</a:t>
            </a:r>
            <a:r>
              <a:rPr lang="en-US" sz="2000" b="1" dirty="0"/>
              <a:t> </a:t>
            </a:r>
            <a:endParaRPr lang="en-US" sz="2000" b="1" dirty="0" smtClean="0"/>
          </a:p>
          <a:p>
            <a:pPr lvl="2"/>
            <a:r>
              <a:rPr lang="en-US" sz="2000" b="1" dirty="0" smtClean="0"/>
              <a:t>DB_HOST=127.0.0.1 </a:t>
            </a:r>
          </a:p>
          <a:p>
            <a:pPr lvl="2"/>
            <a:r>
              <a:rPr lang="en-US" sz="2000" b="1" dirty="0" smtClean="0"/>
              <a:t>DB_PORT=3306 </a:t>
            </a:r>
          </a:p>
          <a:p>
            <a:pPr lvl="2"/>
            <a:r>
              <a:rPr lang="en-US" sz="2000" b="1" dirty="0" smtClean="0"/>
              <a:t>DB_DATABASE=</a:t>
            </a:r>
            <a:r>
              <a:rPr lang="en-US" sz="2000" b="1" dirty="0" err="1" smtClean="0"/>
              <a:t>dlc_db</a:t>
            </a:r>
            <a:r>
              <a:rPr lang="en-US" sz="2000" b="1" dirty="0" smtClean="0"/>
              <a:t> </a:t>
            </a:r>
          </a:p>
          <a:p>
            <a:pPr lvl="2"/>
            <a:r>
              <a:rPr lang="en-US" sz="2000" b="1" dirty="0" smtClean="0"/>
              <a:t>DB_USERNAME=root </a:t>
            </a:r>
          </a:p>
          <a:p>
            <a:pPr lvl="2"/>
            <a:r>
              <a:rPr lang="en-US" sz="2000" b="1" dirty="0" smtClean="0"/>
              <a:t>DB_PASSWORD</a:t>
            </a:r>
            <a:r>
              <a:rPr lang="en-US" sz="2000" b="1" dirty="0"/>
              <a:t>= </a:t>
            </a:r>
          </a:p>
          <a:p>
            <a:r>
              <a:rPr lang="en-US" sz="2800" dirty="0"/>
              <a:t>Save and test with:</a:t>
            </a:r>
          </a:p>
          <a:p>
            <a:pPr lvl="1"/>
            <a:r>
              <a:rPr lang="en-US" sz="2400" b="1" dirty="0" err="1"/>
              <a:t>php</a:t>
            </a:r>
            <a:r>
              <a:rPr lang="en-US" sz="2400" b="1" dirty="0"/>
              <a:t> artisan </a:t>
            </a:r>
            <a:r>
              <a:rPr lang="en-US" sz="2400" b="1" dirty="0" err="1" smtClean="0"/>
              <a:t>migrate:status</a:t>
            </a:r>
            <a:endParaRPr lang="en-US" sz="28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8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Check </a:t>
            </a:r>
            <a:r>
              <a:rPr lang="en-US" sz="2800" dirty="0"/>
              <a:t>if the connection works by running a test query or viewing data in </a:t>
            </a:r>
            <a:r>
              <a:rPr lang="en-US" sz="2800" dirty="0" err="1"/>
              <a:t>phpMyAdmin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0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Routing </a:t>
            </a:r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How </a:t>
            </a:r>
            <a:r>
              <a:rPr lang="en-US" sz="3200" b="1" dirty="0" err="1"/>
              <a:t>Laravel</a:t>
            </a:r>
            <a:r>
              <a:rPr lang="en-US" sz="3200" b="1" dirty="0"/>
              <a:t> Handles URLs</a:t>
            </a:r>
            <a:endParaRPr lang="en-US" sz="3200" dirty="0"/>
          </a:p>
          <a:p>
            <a:pPr lvl="1"/>
            <a:r>
              <a:rPr lang="en-US" sz="2800" dirty="0"/>
              <a:t>All web routes are stored in /</a:t>
            </a:r>
            <a:r>
              <a:rPr lang="en-US" sz="2800" dirty="0" smtClean="0"/>
              <a:t>routes/</a:t>
            </a:r>
            <a:r>
              <a:rPr lang="en-US" sz="2800" dirty="0" err="1" smtClean="0"/>
              <a:t>admin.php</a:t>
            </a:r>
            <a:r>
              <a:rPr lang="en-US" sz="2800" dirty="0" smtClean="0"/>
              <a:t> or </a:t>
            </a:r>
            <a:r>
              <a:rPr lang="en-US" sz="2800" dirty="0"/>
              <a:t>/</a:t>
            </a:r>
            <a:r>
              <a:rPr lang="en-US" sz="2800" dirty="0" smtClean="0"/>
              <a:t>routes/</a:t>
            </a:r>
            <a:r>
              <a:rPr lang="en-US" sz="2800" dirty="0" err="1" smtClean="0"/>
              <a:t>web.php</a:t>
            </a:r>
            <a:r>
              <a:rPr lang="en-US" sz="2800" dirty="0" smtClean="0"/>
              <a:t>.</a:t>
            </a:r>
            <a:endParaRPr lang="en-US" sz="2800" dirty="0"/>
          </a:p>
          <a:p>
            <a:pPr lvl="1"/>
            <a:r>
              <a:rPr lang="en-US" sz="2800" dirty="0"/>
              <a:t>Example:</a:t>
            </a:r>
          </a:p>
          <a:p>
            <a:pPr lvl="2"/>
            <a:r>
              <a:rPr lang="en-US" sz="2400" b="1" dirty="0" smtClean="0"/>
              <a:t>Route</a:t>
            </a:r>
            <a:r>
              <a:rPr lang="en-US" sz="2400" b="1" dirty="0"/>
              <a:t>::get('/dashboard',[</a:t>
            </a:r>
            <a:r>
              <a:rPr lang="en-US" sz="2400" b="1" dirty="0" err="1"/>
              <a:t>ProfileController</a:t>
            </a:r>
            <a:r>
              <a:rPr lang="en-US" sz="2400" b="1" dirty="0"/>
              <a:t>::</a:t>
            </a:r>
            <a:r>
              <a:rPr lang="en-US" sz="2400" b="1" dirty="0" err="1"/>
              <a:t>class,'dashboard</a:t>
            </a:r>
            <a:r>
              <a:rPr lang="en-US" sz="2400" b="1" dirty="0"/>
              <a:t>'])-&gt;name('dashboard');</a:t>
            </a:r>
          </a:p>
          <a:p>
            <a:pPr lvl="1"/>
            <a:r>
              <a:rPr lang="en-US" sz="2800" dirty="0" smtClean="0"/>
              <a:t>Each </a:t>
            </a:r>
            <a:r>
              <a:rPr lang="en-US" sz="2800" dirty="0"/>
              <a:t>route maps to a controller function.</a:t>
            </a:r>
          </a:p>
          <a:p>
            <a:pPr lvl="1"/>
            <a:r>
              <a:rPr lang="en-US" sz="2800" dirty="0"/>
              <a:t>Routes can be grouped or protected with middleware (e.g., </a:t>
            </a:r>
            <a:r>
              <a:rPr lang="en-US" sz="2800" dirty="0" err="1"/>
              <a:t>auth</a:t>
            </a:r>
            <a:r>
              <a:rPr lang="en-US" sz="2800" dirty="0" smtClean="0"/>
              <a:t>).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51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3: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Open </a:t>
            </a:r>
            <a:r>
              <a:rPr lang="en-US" sz="2800" dirty="0" err="1" smtClean="0"/>
              <a:t>admin.php</a:t>
            </a:r>
            <a:r>
              <a:rPr lang="en-US" sz="2800" dirty="0" smtClean="0"/>
              <a:t> </a:t>
            </a:r>
            <a:r>
              <a:rPr lang="en-US" sz="2800" dirty="0"/>
              <a:t>and trace the route for /dashboard.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Identify the controller method handling 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Modify the route to test a change in the URL (e.g., </a:t>
            </a:r>
            <a:r>
              <a:rPr lang="en-US" sz="2800" dirty="0" smtClean="0"/>
              <a:t>/</a:t>
            </a:r>
            <a:r>
              <a:rPr lang="en-US" sz="2800" b="1" dirty="0"/>
              <a:t> </a:t>
            </a:r>
            <a:r>
              <a:rPr lang="en-US" sz="2800" dirty="0" err="1"/>
              <a:t>ProfileController</a:t>
            </a:r>
            <a:r>
              <a:rPr lang="en-US" sz="2800" dirty="0" smtClean="0"/>
              <a:t>).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2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Managing </a:t>
            </a:r>
            <a:r>
              <a:rPr lang="en-US" b="1" dirty="0" smtClean="0"/>
              <a:t>Controllers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Understanding </a:t>
            </a:r>
            <a:r>
              <a:rPr lang="en-US" sz="2800" b="1" dirty="0"/>
              <a:t>Controllers</a:t>
            </a:r>
            <a:endParaRPr lang="en-US" sz="2800" dirty="0"/>
          </a:p>
          <a:p>
            <a:pPr lvl="1"/>
            <a:r>
              <a:rPr lang="en-US" sz="2400" dirty="0"/>
              <a:t>Controllers handle requests and return views or data.</a:t>
            </a:r>
          </a:p>
          <a:p>
            <a:pPr lvl="1"/>
            <a:r>
              <a:rPr lang="en-US" sz="2400" b="1" dirty="0"/>
              <a:t>Example</a:t>
            </a:r>
            <a:r>
              <a:rPr lang="en-US" sz="2400" dirty="0"/>
              <a:t>: </a:t>
            </a:r>
            <a:r>
              <a:rPr lang="en-US" sz="2400" dirty="0" err="1" smtClean="0"/>
              <a:t>ProfileController.php</a:t>
            </a:r>
            <a:endParaRPr lang="en-US" sz="2400" dirty="0" smtClean="0"/>
          </a:p>
          <a:p>
            <a:pPr marL="274320" lvl="1" indent="0">
              <a:buNone/>
            </a:pPr>
            <a:endParaRPr lang="en-US" sz="2400" dirty="0"/>
          </a:p>
          <a:p>
            <a:pPr marL="274320" lvl="1" indent="0">
              <a:buNone/>
            </a:pPr>
            <a:r>
              <a:rPr lang="en-US" sz="2400" dirty="0" smtClean="0"/>
              <a:t>    </a:t>
            </a:r>
            <a:r>
              <a:rPr lang="en-US" sz="2400" b="1" dirty="0" smtClean="0"/>
              <a:t>public </a:t>
            </a:r>
            <a:r>
              <a:rPr lang="en-US" sz="2400" b="1" dirty="0"/>
              <a:t>function dashboard()</a:t>
            </a:r>
          </a:p>
          <a:p>
            <a:pPr marL="274320" lvl="1" indent="0">
              <a:buNone/>
            </a:pPr>
            <a:r>
              <a:rPr lang="en-US" sz="2400" b="1" dirty="0"/>
              <a:t>    {</a:t>
            </a:r>
          </a:p>
          <a:p>
            <a:pPr marL="274320" lvl="1" indent="0">
              <a:buNone/>
            </a:pPr>
            <a:r>
              <a:rPr lang="en-US" sz="2400" b="1" dirty="0"/>
              <a:t>        $</a:t>
            </a:r>
            <a:r>
              <a:rPr lang="en-US" sz="2400" b="1" dirty="0" err="1"/>
              <a:t>customerCount</a:t>
            </a:r>
            <a:r>
              <a:rPr lang="en-US" sz="2400" b="1" dirty="0"/>
              <a:t> = Customer::</a:t>
            </a:r>
            <a:r>
              <a:rPr lang="en-US" sz="2400" b="1" dirty="0" err="1"/>
              <a:t>orderBy</a:t>
            </a:r>
            <a:r>
              <a:rPr lang="en-US" sz="2400" b="1" dirty="0"/>
              <a:t>('</a:t>
            </a:r>
            <a:r>
              <a:rPr lang="en-US" sz="2400" b="1" dirty="0" err="1"/>
              <a:t>id','DESC</a:t>
            </a:r>
            <a:r>
              <a:rPr lang="en-US" sz="2400" b="1" dirty="0"/>
              <a:t>')-&gt;get()-&gt;count();</a:t>
            </a:r>
          </a:p>
          <a:p>
            <a:pPr marL="274320" lvl="1" indent="0">
              <a:buNone/>
            </a:pPr>
            <a:r>
              <a:rPr lang="en-US" sz="2400" b="1" dirty="0"/>
              <a:t>        return view('dashboard',['</a:t>
            </a:r>
            <a:r>
              <a:rPr lang="en-US" sz="2400" b="1" dirty="0" err="1"/>
              <a:t>customerCount</a:t>
            </a:r>
            <a:r>
              <a:rPr lang="en-US" sz="2400" b="1" dirty="0"/>
              <a:t>'=&gt;$</a:t>
            </a:r>
            <a:r>
              <a:rPr lang="en-US" sz="2400" b="1" dirty="0" err="1"/>
              <a:t>customerCount</a:t>
            </a:r>
            <a:r>
              <a:rPr lang="en-US" sz="2400" b="1" dirty="0"/>
              <a:t>]);</a:t>
            </a:r>
          </a:p>
          <a:p>
            <a:pPr marL="274320" lvl="1" indent="0">
              <a:buNone/>
            </a:pPr>
            <a:r>
              <a:rPr lang="en-US" sz="2400" b="1" dirty="0"/>
              <a:t>    </a:t>
            </a:r>
            <a:r>
              <a:rPr lang="en-US" sz="2400" b="1" dirty="0" smtClean="0"/>
              <a:t>}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47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4: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Open one controller (e.g., </a:t>
            </a:r>
            <a:r>
              <a:rPr lang="en-US" sz="2800" dirty="0" err="1" smtClean="0"/>
              <a:t>ProfileController</a:t>
            </a:r>
            <a:r>
              <a:rPr lang="en-US" sz="28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Identify the logic and variables passed to the view.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Modify a small line (like a </a:t>
            </a:r>
            <a:r>
              <a:rPr lang="en-US" sz="2800" dirty="0" smtClean="0"/>
              <a:t>variable name).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00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Managing </a:t>
            </a:r>
            <a:r>
              <a:rPr lang="en-US" b="1" dirty="0" smtClean="0"/>
              <a:t>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 smtClean="0"/>
              <a:t>Understanding </a:t>
            </a:r>
            <a:r>
              <a:rPr lang="en-US" sz="3200" b="1" dirty="0"/>
              <a:t>Models</a:t>
            </a:r>
            <a:endParaRPr lang="en-US" sz="3200" dirty="0"/>
          </a:p>
          <a:p>
            <a:pPr lvl="1"/>
            <a:r>
              <a:rPr lang="en-US" sz="2800" dirty="0"/>
              <a:t>Each model represents a table in the database.</a:t>
            </a:r>
          </a:p>
          <a:p>
            <a:pPr lvl="1"/>
            <a:r>
              <a:rPr lang="en-US" sz="2800" b="1" dirty="0"/>
              <a:t>Example</a:t>
            </a:r>
            <a:r>
              <a:rPr lang="en-US" sz="2800" dirty="0"/>
              <a:t>: </a:t>
            </a:r>
            <a:r>
              <a:rPr lang="en-US" sz="2800" dirty="0" err="1" smtClean="0"/>
              <a:t>Employee.php</a:t>
            </a:r>
            <a:endParaRPr lang="en-US" sz="2800" dirty="0" smtClean="0"/>
          </a:p>
          <a:p>
            <a:pPr marL="274320" lvl="1" indent="0">
              <a:buNone/>
            </a:pPr>
            <a:endParaRPr lang="en-US" sz="2800" dirty="0" smtClean="0"/>
          </a:p>
          <a:p>
            <a:pPr marL="548640" lvl="2" indent="0">
              <a:buNone/>
            </a:pPr>
            <a:r>
              <a:rPr lang="en-US" sz="2400" b="1" dirty="0"/>
              <a:t>class Employee extends Model</a:t>
            </a:r>
          </a:p>
          <a:p>
            <a:pPr marL="548640" lvl="2" indent="0">
              <a:buNone/>
            </a:pPr>
            <a:r>
              <a:rPr lang="en-US" sz="2400" b="1" dirty="0"/>
              <a:t>{</a:t>
            </a:r>
          </a:p>
          <a:p>
            <a:pPr marL="548640" lvl="2" indent="0">
              <a:buNone/>
            </a:pPr>
            <a:r>
              <a:rPr lang="en-US" sz="2400" b="1" dirty="0"/>
              <a:t>    use </a:t>
            </a:r>
            <a:r>
              <a:rPr lang="en-US" sz="2400" b="1" dirty="0" err="1"/>
              <a:t>HasFactory</a:t>
            </a:r>
            <a:r>
              <a:rPr lang="en-US" sz="2400" b="1" dirty="0"/>
              <a:t>;</a:t>
            </a:r>
          </a:p>
          <a:p>
            <a:pPr marL="548640" lvl="2" indent="0">
              <a:buNone/>
            </a:pPr>
            <a:r>
              <a:rPr lang="en-US" sz="2400" b="1" dirty="0"/>
              <a:t>    protected $fillable = </a:t>
            </a:r>
            <a:r>
              <a:rPr lang="en-US" sz="2400" b="1" dirty="0" smtClean="0"/>
              <a:t>[</a:t>
            </a:r>
            <a:r>
              <a:rPr lang="en-US" sz="2400" b="1" dirty="0"/>
              <a:t> </a:t>
            </a:r>
            <a:r>
              <a:rPr lang="en-US" sz="2400" b="1" dirty="0" smtClean="0"/>
              <a:t> </a:t>
            </a:r>
            <a:r>
              <a:rPr lang="en-US" sz="2400" b="1" dirty="0"/>
              <a:t>'</a:t>
            </a:r>
            <a:r>
              <a:rPr lang="en-US" sz="2400" b="1" dirty="0" err="1"/>
              <a:t>first_name</a:t>
            </a:r>
            <a:r>
              <a:rPr lang="en-US" sz="2400" b="1" dirty="0" smtClean="0"/>
              <a:t>', </a:t>
            </a:r>
            <a:r>
              <a:rPr lang="en-US" sz="2400" b="1" dirty="0"/>
              <a:t>'</a:t>
            </a:r>
            <a:r>
              <a:rPr lang="en-US" sz="2400" b="1" dirty="0" err="1"/>
              <a:t>middle_name</a:t>
            </a:r>
            <a:r>
              <a:rPr lang="en-US" sz="2400" b="1" dirty="0" smtClean="0"/>
              <a:t>', </a:t>
            </a:r>
            <a:r>
              <a:rPr lang="en-US" sz="2400" b="1" dirty="0"/>
              <a:t>'</a:t>
            </a:r>
            <a:r>
              <a:rPr lang="en-US" sz="2400" b="1" dirty="0" err="1"/>
              <a:t>last_name</a:t>
            </a:r>
            <a:r>
              <a:rPr lang="en-US" sz="2400" b="1" dirty="0" smtClean="0"/>
              <a:t>', </a:t>
            </a:r>
            <a:r>
              <a:rPr lang="en-US" sz="2400" b="1" dirty="0"/>
              <a:t>'sex</a:t>
            </a:r>
            <a:r>
              <a:rPr lang="en-US" sz="2400" b="1" dirty="0" smtClean="0"/>
              <a:t>', </a:t>
            </a:r>
            <a:r>
              <a:rPr lang="en-US" sz="2400" b="1" dirty="0"/>
              <a:t>'dob</a:t>
            </a:r>
            <a:r>
              <a:rPr lang="en-US" sz="2400" b="1" dirty="0" smtClean="0"/>
              <a:t>', 'mobile', 'email', '</a:t>
            </a:r>
            <a:r>
              <a:rPr lang="en-US" sz="2400" b="1" dirty="0" err="1" smtClean="0"/>
              <a:t>userId</a:t>
            </a:r>
            <a:r>
              <a:rPr lang="en-US" sz="2400" b="1" dirty="0"/>
              <a:t>'</a:t>
            </a:r>
          </a:p>
          <a:p>
            <a:pPr marL="548640" lvl="2" indent="0">
              <a:buNone/>
            </a:pPr>
            <a:r>
              <a:rPr lang="en-US" sz="2400" b="1" dirty="0"/>
              <a:t>    ];</a:t>
            </a:r>
          </a:p>
          <a:p>
            <a:pPr marL="548640" lvl="2" indent="0">
              <a:buNone/>
            </a:pPr>
            <a:r>
              <a:rPr lang="en-US" sz="2400" b="1" dirty="0" smtClean="0"/>
              <a:t>}</a:t>
            </a:r>
            <a:endParaRPr lang="en-US" sz="24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96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5: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Open the Employee model.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Add a new fillable attribute (e.g., department).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Verify that changes reflect during form submission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4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Managing Resources </a:t>
            </a:r>
            <a:r>
              <a:rPr lang="en-US" b="1" dirty="0" smtClean="0"/>
              <a:t>Folder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Frontend </a:t>
            </a:r>
            <a:r>
              <a:rPr lang="en-US" sz="3200" b="1" dirty="0"/>
              <a:t>Management (Views)</a:t>
            </a:r>
            <a:endParaRPr lang="en-US" sz="3200" dirty="0"/>
          </a:p>
          <a:p>
            <a:pPr lvl="1"/>
            <a:r>
              <a:rPr lang="en-US" sz="2800" dirty="0"/>
              <a:t>All frontend templates are inside /resources/views.</a:t>
            </a:r>
          </a:p>
          <a:p>
            <a:pPr lvl="1"/>
            <a:r>
              <a:rPr lang="en-US" sz="2800" dirty="0"/>
              <a:t>Use </a:t>
            </a:r>
            <a:r>
              <a:rPr lang="en-US" sz="2800" b="1" dirty="0"/>
              <a:t>Blade syntax</a:t>
            </a:r>
            <a:r>
              <a:rPr lang="en-US" sz="2800" dirty="0"/>
              <a:t> (.</a:t>
            </a:r>
            <a:r>
              <a:rPr lang="en-US" sz="2800" dirty="0" err="1"/>
              <a:t>blade.php</a:t>
            </a:r>
            <a:r>
              <a:rPr lang="en-US" sz="2800" dirty="0"/>
              <a:t>) to combine HTML with </a:t>
            </a:r>
            <a:r>
              <a:rPr lang="en-US" sz="2800" dirty="0" err="1"/>
              <a:t>Laravel</a:t>
            </a:r>
            <a:r>
              <a:rPr lang="en-US" sz="2800" dirty="0"/>
              <a:t> variables.</a:t>
            </a:r>
          </a:p>
          <a:p>
            <a:pPr lvl="1"/>
            <a:r>
              <a:rPr lang="en-US" sz="2800" b="1" dirty="0"/>
              <a:t>Example</a:t>
            </a:r>
            <a:r>
              <a:rPr lang="en-US" sz="2800" dirty="0"/>
              <a:t>:</a:t>
            </a:r>
          </a:p>
          <a:p>
            <a:pPr marL="548640" lvl="2" indent="0">
              <a:buNone/>
            </a:pPr>
            <a:r>
              <a:rPr lang="en-US" sz="2400" dirty="0" smtClean="0"/>
              <a:t>&lt;</a:t>
            </a:r>
            <a:r>
              <a:rPr lang="en-US" sz="2400" dirty="0"/>
              <a:t>title&gt; @yield('title', 'Admin') | {{ </a:t>
            </a:r>
            <a:r>
              <a:rPr lang="en-US" sz="2400" dirty="0" err="1"/>
              <a:t>config</a:t>
            </a:r>
            <a:r>
              <a:rPr lang="en-US" sz="2400" dirty="0"/>
              <a:t>('app.name') }}&lt;/title</a:t>
            </a:r>
            <a:r>
              <a:rPr lang="en-US" sz="2400" dirty="0" smtClean="0"/>
              <a:t>&gt;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08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6: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Open </a:t>
            </a:r>
            <a:r>
              <a:rPr lang="en-US" sz="2800" dirty="0" smtClean="0"/>
              <a:t>resources/views/</a:t>
            </a:r>
            <a:r>
              <a:rPr lang="en-US" sz="2800" dirty="0" err="1" smtClean="0"/>
              <a:t>auth</a:t>
            </a:r>
            <a:r>
              <a:rPr lang="en-US" sz="2800" dirty="0" smtClean="0"/>
              <a:t>/</a:t>
            </a:r>
            <a:r>
              <a:rPr lang="en-US" sz="2800" dirty="0" err="1" smtClean="0"/>
              <a:t>login.blade.php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Edit the header or text on the landing page.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Save and refresh in the browser.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14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Editing Specific Page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Landing </a:t>
            </a:r>
            <a:r>
              <a:rPr lang="en-US" b="1" dirty="0"/>
              <a:t>Page</a:t>
            </a:r>
          </a:p>
          <a:p>
            <a:pPr lvl="1"/>
            <a:r>
              <a:rPr lang="en-US" dirty="0"/>
              <a:t>File: /</a:t>
            </a:r>
            <a:r>
              <a:rPr lang="en-US" dirty="0" smtClean="0"/>
              <a:t>resources/views/</a:t>
            </a:r>
            <a:r>
              <a:rPr lang="en-US" dirty="0" err="1" smtClean="0"/>
              <a:t>lvideos</a:t>
            </a:r>
            <a:r>
              <a:rPr lang="en-US" dirty="0" smtClean="0"/>
              <a:t>/</a:t>
            </a:r>
            <a:r>
              <a:rPr lang="en-US" dirty="0" err="1" smtClean="0"/>
              <a:t>home.blade.php</a:t>
            </a:r>
            <a:endParaRPr lang="en-US" dirty="0"/>
          </a:p>
          <a:p>
            <a:pPr lvl="1"/>
            <a:r>
              <a:rPr lang="en-US" dirty="0"/>
              <a:t>Update banners, titles, or categories dynamically.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Login </a:t>
            </a:r>
            <a:r>
              <a:rPr lang="en-US" b="1" dirty="0"/>
              <a:t>Page</a:t>
            </a:r>
          </a:p>
          <a:p>
            <a:pPr lvl="1"/>
            <a:r>
              <a:rPr lang="en-US" dirty="0"/>
              <a:t>File: /resources/views/</a:t>
            </a:r>
            <a:r>
              <a:rPr lang="en-US" dirty="0" err="1"/>
              <a:t>auth</a:t>
            </a:r>
            <a:r>
              <a:rPr lang="en-US" dirty="0"/>
              <a:t>/</a:t>
            </a:r>
            <a:r>
              <a:rPr lang="en-US" dirty="0" err="1"/>
              <a:t>login.blade.php</a:t>
            </a:r>
            <a:endParaRPr lang="en-US" dirty="0"/>
          </a:p>
          <a:p>
            <a:pPr lvl="1"/>
            <a:r>
              <a:rPr lang="en-US" dirty="0"/>
              <a:t>Adjust form fields, button labels, or branding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Dashboard</a:t>
            </a:r>
            <a:endParaRPr lang="en-US" b="1" dirty="0"/>
          </a:p>
          <a:p>
            <a:pPr lvl="1"/>
            <a:r>
              <a:rPr lang="en-US" dirty="0"/>
              <a:t>File: /</a:t>
            </a:r>
            <a:r>
              <a:rPr lang="en-US" dirty="0" smtClean="0"/>
              <a:t>resources/views/components/</a:t>
            </a:r>
            <a:r>
              <a:rPr lang="en-US" dirty="0" err="1" smtClean="0"/>
              <a:t>dashboard.blade.php</a:t>
            </a:r>
            <a:endParaRPr lang="en-US" dirty="0"/>
          </a:p>
          <a:p>
            <a:pPr lvl="1"/>
            <a:r>
              <a:rPr lang="en-US" dirty="0"/>
              <a:t>Update counters and statistics.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Profile </a:t>
            </a:r>
            <a:r>
              <a:rPr lang="en-US" b="1" dirty="0"/>
              <a:t>Management</a:t>
            </a:r>
          </a:p>
          <a:p>
            <a:pPr lvl="1"/>
            <a:r>
              <a:rPr lang="en-US" dirty="0"/>
              <a:t>File: /resources/views/profile/</a:t>
            </a:r>
            <a:r>
              <a:rPr lang="en-US" dirty="0" err="1"/>
              <a:t>edit.blade.php</a:t>
            </a:r>
            <a:endParaRPr lang="en-US" dirty="0"/>
          </a:p>
          <a:p>
            <a:pPr lvl="1"/>
            <a:r>
              <a:rPr lang="en-US" dirty="0"/>
              <a:t>Modify password change and theme toggle UI.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7: Editing Specific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Edit the header logo text on the landing page.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Update the dashboard title to include “DLC Admin Dashboard”.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Save and refresh the browser to verify.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4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0" y="19786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ym typeface="+mn-ea"/>
              </a:rPr>
              <a:t>Backend &amp; Frontend Editing </a:t>
            </a:r>
            <a:r>
              <a:rPr lang="" altLang="en-US" b="1">
                <a:sym typeface="+mn-ea"/>
              </a:rPr>
              <a:t>-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73780"/>
            <a:ext cx="10515600" cy="26035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Learning Objectives:</a:t>
            </a:r>
            <a:endParaRPr lang="en-US" dirty="0"/>
          </a:p>
          <a:p>
            <a:pPr lvl="1"/>
            <a:r>
              <a:rPr lang="en-US" sz="2100" dirty="0" smtClean="0"/>
              <a:t>Locate </a:t>
            </a:r>
            <a:r>
              <a:rPr lang="en-US" sz="2100" dirty="0"/>
              <a:t>and understand code structure for Employee, Customer, Category, and Digital Content modules.</a:t>
            </a:r>
          </a:p>
          <a:p>
            <a:pPr lvl="1"/>
            <a:r>
              <a:rPr lang="en-US" sz="2100" dirty="0"/>
              <a:t>Edit controllers, views, and models to modify features and apply configuration changes.</a:t>
            </a:r>
          </a:p>
          <a:p>
            <a:pPr lvl="1"/>
            <a:r>
              <a:rPr lang="en-US" sz="2100" dirty="0"/>
              <a:t>Practice real-world editing techniques while maintaining </a:t>
            </a:r>
            <a:r>
              <a:rPr lang="en-US" sz="2100" dirty="0" err="1"/>
              <a:t>Laravel</a:t>
            </a:r>
            <a:r>
              <a:rPr lang="en-US" sz="2100" dirty="0"/>
              <a:t> project integrity.</a:t>
            </a:r>
          </a:p>
          <a:p>
            <a:pPr lvl="1"/>
            <a:r>
              <a:rPr lang="en-US" sz="2100" dirty="0"/>
              <a:t>Recognize common mistakes during code modification and apply best practices to avoid them</a:t>
            </a:r>
            <a:r>
              <a:rPr lang="en-US" sz="2100" dirty="0" smtClean="0"/>
              <a:t>.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069340" y="5702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>
                <a:sym typeface="+mn-ea"/>
              </a:rPr>
              <a:t>Session - </a:t>
            </a:r>
            <a:r>
              <a:rPr lang="" altLang="en-US" b="1">
                <a:sym typeface="+mn-ea"/>
              </a:rPr>
              <a:t>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79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Code </a:t>
            </a:r>
            <a:r>
              <a:rPr lang="en-US" b="1" dirty="0" smtClean="0"/>
              <a:t>Review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Always </a:t>
            </a:r>
            <a:r>
              <a:rPr lang="en-US" sz="3200" dirty="0"/>
              <a:t>start by understanding:</a:t>
            </a:r>
          </a:p>
          <a:p>
            <a:pPr lvl="1"/>
            <a:r>
              <a:rPr lang="en-US" sz="2800" dirty="0"/>
              <a:t>Controller logic</a:t>
            </a:r>
          </a:p>
          <a:p>
            <a:pPr lvl="1"/>
            <a:r>
              <a:rPr lang="en-US" sz="2800" dirty="0"/>
              <a:t>Linked models and relationships</a:t>
            </a:r>
          </a:p>
          <a:p>
            <a:pPr lvl="1"/>
            <a:r>
              <a:rPr lang="en-US" sz="2800" dirty="0"/>
              <a:t>Corresponding Blade templates</a:t>
            </a:r>
          </a:p>
          <a:p>
            <a:pPr lvl="1"/>
            <a:r>
              <a:rPr lang="en-US" sz="2800" dirty="0"/>
              <a:t>Routes connected to each method</a:t>
            </a:r>
          </a:p>
          <a:p>
            <a:r>
              <a:rPr lang="en-US" sz="3200" dirty="0"/>
              <a:t>Use </a:t>
            </a:r>
            <a:r>
              <a:rPr lang="en-US" sz="3200" b="1" dirty="0"/>
              <a:t>incremental editing</a:t>
            </a:r>
            <a:r>
              <a:rPr lang="en-US" sz="3200" dirty="0"/>
              <a:t> → small, tested changes.</a:t>
            </a:r>
          </a:p>
          <a:p>
            <a:r>
              <a:rPr lang="en-US" sz="3200" dirty="0"/>
              <a:t>Keep backups of original code before modification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9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Employee Management Code </a:t>
            </a:r>
            <a:r>
              <a:rPr lang="en-US" b="1" dirty="0" smtClean="0"/>
              <a:t>Editing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Objective</a:t>
            </a:r>
            <a:r>
              <a:rPr lang="en-US" sz="3200" b="1" dirty="0"/>
              <a:t>:</a:t>
            </a:r>
            <a:r>
              <a:rPr lang="en-US" sz="3200" dirty="0"/>
              <a:t> Learn where and how to modify employee-related </a:t>
            </a:r>
            <a:r>
              <a:rPr lang="en-US" sz="3200" dirty="0" smtClean="0"/>
              <a:t>code.</a:t>
            </a:r>
          </a:p>
          <a:p>
            <a:r>
              <a:rPr lang="en-US" sz="3200" b="1" dirty="0" smtClean="0"/>
              <a:t>Files </a:t>
            </a:r>
            <a:r>
              <a:rPr lang="en-US" sz="3200" b="1" dirty="0"/>
              <a:t>involved:</a:t>
            </a:r>
            <a:endParaRPr lang="en-US" sz="3200" dirty="0"/>
          </a:p>
          <a:p>
            <a:pPr lvl="1"/>
            <a:r>
              <a:rPr lang="en-US" sz="2800" dirty="0" err="1"/>
              <a:t>EmployeeController.php</a:t>
            </a:r>
            <a:r>
              <a:rPr lang="en-US" sz="2800" dirty="0"/>
              <a:t> → edit CRUD logic</a:t>
            </a:r>
          </a:p>
          <a:p>
            <a:pPr lvl="1"/>
            <a:r>
              <a:rPr lang="en-US" sz="2800" dirty="0" err="1"/>
              <a:t>Employee.php</a:t>
            </a:r>
            <a:r>
              <a:rPr lang="en-US" sz="2800" dirty="0"/>
              <a:t> (Model) → edit table name or relationships</a:t>
            </a:r>
          </a:p>
          <a:p>
            <a:pPr lvl="1"/>
            <a:r>
              <a:rPr lang="en-US" sz="2800" dirty="0" smtClean="0"/>
              <a:t>admin/employees</a:t>
            </a:r>
            <a:r>
              <a:rPr lang="en-US" sz="2800" dirty="0"/>
              <a:t>/ Blade folder → update UI display fields</a:t>
            </a:r>
          </a:p>
          <a:p>
            <a:pPr lvl="1"/>
            <a:r>
              <a:rPr lang="en-US" sz="2800" dirty="0" err="1" smtClean="0"/>
              <a:t>admin.php</a:t>
            </a:r>
            <a:r>
              <a:rPr lang="en-US" sz="2800" dirty="0" smtClean="0"/>
              <a:t> </a:t>
            </a:r>
            <a:r>
              <a:rPr lang="en-US" sz="2800" dirty="0"/>
              <a:t>→ adjust route naming if </a:t>
            </a:r>
            <a:r>
              <a:rPr lang="en-US" sz="2800" dirty="0" smtClean="0"/>
              <a:t>required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00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1: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Rename </a:t>
            </a:r>
            <a:r>
              <a:rPr lang="en-US" sz="2800" dirty="0"/>
              <a:t>one column label in the Employee Blade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Add a new attribute to Employee (e.g., “Position”).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Update controller and migration accordingly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2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Customer Management Code </a:t>
            </a:r>
            <a:r>
              <a:rPr lang="en-US" b="1" dirty="0" smtClean="0"/>
              <a:t>Editing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Objective</a:t>
            </a:r>
            <a:r>
              <a:rPr lang="en-US" sz="3200" b="1" dirty="0"/>
              <a:t>:</a:t>
            </a:r>
            <a:r>
              <a:rPr lang="en-US" sz="3200" dirty="0"/>
              <a:t> Understand front-end and backend connections for customers.</a:t>
            </a:r>
            <a:br>
              <a:rPr lang="en-US" sz="3200" dirty="0"/>
            </a:br>
            <a:r>
              <a:rPr lang="en-US" sz="3200" b="1" dirty="0" smtClean="0"/>
              <a:t>File Involved:</a:t>
            </a:r>
          </a:p>
          <a:p>
            <a:pPr lvl="1"/>
            <a:r>
              <a:rPr lang="en-US" sz="2800" dirty="0" smtClean="0"/>
              <a:t>Review </a:t>
            </a:r>
            <a:r>
              <a:rPr lang="en-US" sz="2800" dirty="0"/>
              <a:t>how </a:t>
            </a:r>
            <a:r>
              <a:rPr lang="en-US" sz="2800" dirty="0" err="1"/>
              <a:t>CustomerController</a:t>
            </a:r>
            <a:r>
              <a:rPr lang="en-US" sz="2800" dirty="0"/>
              <a:t> interacts with </a:t>
            </a:r>
            <a:r>
              <a:rPr lang="en-US" sz="2800" dirty="0" err="1"/>
              <a:t>Customer.php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Identify form field bindings in Blade templates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4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Change </a:t>
            </a:r>
            <a:r>
              <a:rPr lang="en-US" sz="2800" dirty="0"/>
              <a:t>the form label “Customer Name” to “Full Name”.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Modify the validation rule for email to be unique.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Update display layout to include customer’s registration date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4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Content Category Management Code Editing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Objective</a:t>
            </a:r>
            <a:r>
              <a:rPr lang="en-US" sz="3200" b="1" dirty="0"/>
              <a:t>:</a:t>
            </a:r>
            <a:r>
              <a:rPr lang="en-US" sz="3200" dirty="0"/>
              <a:t> Practice editing category listing and naming </a:t>
            </a:r>
            <a:r>
              <a:rPr lang="en-US" sz="3200" dirty="0" smtClean="0"/>
              <a:t>structure.</a:t>
            </a:r>
          </a:p>
          <a:p>
            <a:r>
              <a:rPr lang="en-US" sz="3200" b="1" dirty="0" smtClean="0"/>
              <a:t>File Involved:</a:t>
            </a:r>
          </a:p>
          <a:p>
            <a:pPr lvl="1"/>
            <a:r>
              <a:rPr lang="en-US" sz="2800" dirty="0" err="1" smtClean="0"/>
              <a:t>ContentCategoryController.php</a:t>
            </a:r>
            <a:r>
              <a:rPr lang="en-US" sz="2800" dirty="0" smtClean="0"/>
              <a:t> </a:t>
            </a:r>
            <a:r>
              <a:rPr lang="en-US" sz="2800" dirty="0"/>
              <a:t>→ method naming and pagination logic</a:t>
            </a:r>
          </a:p>
          <a:p>
            <a:pPr lvl="1"/>
            <a:r>
              <a:rPr lang="en-US" sz="2800" dirty="0" err="1"/>
              <a:t>index.blade.php</a:t>
            </a:r>
            <a:r>
              <a:rPr lang="en-US" sz="2800" dirty="0"/>
              <a:t> → table header and category </a:t>
            </a:r>
            <a:r>
              <a:rPr lang="en-US" sz="2800" dirty="0" smtClean="0"/>
              <a:t>display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3: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Add </a:t>
            </a:r>
            <a:r>
              <a:rPr lang="en-US" sz="2800" dirty="0"/>
              <a:t>sorting functionality by category name.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Update a category title and reflect it in the view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Digital Content Management Code </a:t>
            </a:r>
            <a:r>
              <a:rPr lang="en-US" b="1" dirty="0" smtClean="0"/>
              <a:t>Editing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 smtClean="0"/>
              <a:t>Objective</a:t>
            </a:r>
            <a:r>
              <a:rPr lang="en-US" sz="3200" b="1" dirty="0"/>
              <a:t>:</a:t>
            </a:r>
            <a:r>
              <a:rPr lang="en-US" sz="3200" dirty="0"/>
              <a:t> Modify upload and view sections for digital </a:t>
            </a:r>
            <a:r>
              <a:rPr lang="en-US" sz="3200" dirty="0" smtClean="0"/>
              <a:t>content.</a:t>
            </a:r>
          </a:p>
          <a:p>
            <a:r>
              <a:rPr lang="en-US" sz="3200" b="1" dirty="0" smtClean="0"/>
              <a:t>Focus point:</a:t>
            </a:r>
            <a:endParaRPr lang="en-US" sz="3200" b="1" dirty="0"/>
          </a:p>
          <a:p>
            <a:pPr lvl="1"/>
            <a:r>
              <a:rPr lang="en-US" sz="2800" dirty="0"/>
              <a:t>Upload path (storage/)</a:t>
            </a:r>
          </a:p>
          <a:p>
            <a:pPr lvl="1"/>
            <a:r>
              <a:rPr lang="en-US" sz="2800" dirty="0"/>
              <a:t>File validation in controller</a:t>
            </a:r>
          </a:p>
          <a:p>
            <a:pPr lvl="1"/>
            <a:r>
              <a:rPr lang="en-US" sz="2800" dirty="0"/>
              <a:t>Blade loop rendering uploaded content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6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4: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Change upload folder name to </a:t>
            </a:r>
            <a:r>
              <a:rPr lang="en-US" sz="2800" dirty="0" err="1"/>
              <a:t>digital_resources</a:t>
            </a:r>
            <a:r>
              <a:rPr lang="en-US" sz="28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Update controller to store the new path.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Add a new column “Uploaded By” in the listing table.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6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Hands-On Code Editing </a:t>
            </a:r>
            <a:r>
              <a:rPr lang="en-US" b="1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Activity</a:t>
            </a:r>
            <a:r>
              <a:rPr lang="en-US" sz="3200" b="1" dirty="0"/>
              <a:t>:</a:t>
            </a:r>
            <a:endParaRPr lang="en-US" sz="3200" dirty="0"/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Pair work: Each participant edits one module (Employee, Customer, Category, or Content).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Apply a change and review its effect by reading output or running </a:t>
            </a:r>
            <a:r>
              <a:rPr lang="en-US" sz="2800" dirty="0" err="1"/>
              <a:t>php</a:t>
            </a:r>
            <a:r>
              <a:rPr lang="en-US" sz="2800" dirty="0"/>
              <a:t> artisan </a:t>
            </a:r>
            <a:r>
              <a:rPr lang="en-US" sz="2800" dirty="0" err="1"/>
              <a:t>route:list</a:t>
            </a:r>
            <a:r>
              <a:rPr lang="en-US" sz="2800" dirty="0"/>
              <a:t>.</a:t>
            </a:r>
          </a:p>
          <a:p>
            <a:pPr marL="788670" lvl="1" indent="-514350">
              <a:buFont typeface="+mj-lt"/>
              <a:buAutoNum type="arabicPeriod"/>
            </a:pPr>
            <a:r>
              <a:rPr lang="en-US" sz="2800" dirty="0"/>
              <a:t>Discuss what type of errors appear if model-view alignment breaks</a:t>
            </a:r>
            <a:r>
              <a:rPr lang="en-US" sz="2800" dirty="0" smtClean="0"/>
              <a:t>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1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for Safe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Always use </a:t>
            </a:r>
            <a:r>
              <a:rPr lang="en-US" sz="2800" b="1" dirty="0"/>
              <a:t>version control (</a:t>
            </a:r>
            <a:r>
              <a:rPr lang="en-US" sz="2800" b="1" dirty="0" err="1"/>
              <a:t>Git</a:t>
            </a:r>
            <a:r>
              <a:rPr lang="en-US" sz="2800" b="1" dirty="0"/>
              <a:t>)</a:t>
            </a:r>
            <a:r>
              <a:rPr lang="en-US" sz="2800" dirty="0"/>
              <a:t> before </a:t>
            </a:r>
            <a:r>
              <a:rPr lang="en-US" sz="2800" dirty="0" smtClean="0"/>
              <a:t>editing.</a:t>
            </a:r>
            <a:endParaRPr lang="en-US" sz="2800" dirty="0"/>
          </a:p>
          <a:p>
            <a:r>
              <a:rPr lang="en-US" sz="2800" b="1" dirty="0"/>
              <a:t>Never edit directly on the production server</a:t>
            </a:r>
            <a:r>
              <a:rPr lang="en-US" sz="2800" dirty="0"/>
              <a:t>.</a:t>
            </a:r>
          </a:p>
          <a:p>
            <a:r>
              <a:rPr lang="en-US" sz="2800" dirty="0"/>
              <a:t>Keep naming conventions consistent.</a:t>
            </a:r>
          </a:p>
          <a:p>
            <a:r>
              <a:rPr lang="en-US" sz="2800" dirty="0"/>
              <a:t>Use </a:t>
            </a:r>
            <a:r>
              <a:rPr lang="en-US" sz="2800" b="1" dirty="0"/>
              <a:t>comments</a:t>
            </a:r>
            <a:r>
              <a:rPr lang="en-US" sz="2800" dirty="0"/>
              <a:t> to document changes.</a:t>
            </a:r>
          </a:p>
          <a:p>
            <a:r>
              <a:rPr lang="en-US" sz="2800" dirty="0"/>
              <a:t>Follow </a:t>
            </a:r>
            <a:r>
              <a:rPr lang="en-US" sz="2800" b="1" dirty="0" err="1"/>
              <a:t>Laravel</a:t>
            </a:r>
            <a:r>
              <a:rPr lang="en-US" sz="2800" b="1" dirty="0"/>
              <a:t> directory structure</a:t>
            </a:r>
            <a:r>
              <a:rPr lang="en-US" sz="2800" dirty="0"/>
              <a:t> strictly.</a:t>
            </a:r>
          </a:p>
          <a:p>
            <a:r>
              <a:rPr lang="en-US" sz="2800" dirty="0"/>
              <a:t>Test using </a:t>
            </a:r>
            <a:r>
              <a:rPr lang="en-US" sz="2800" b="1" dirty="0"/>
              <a:t>tinker or artisan commands</a:t>
            </a:r>
            <a:r>
              <a:rPr lang="en-US" sz="2800" dirty="0"/>
              <a:t> after each change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6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Editing Challenges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98654"/>
              </p:ext>
            </p:extLst>
          </p:nvPr>
        </p:nvGraphicFramePr>
        <p:xfrm>
          <a:off x="609600" y="1664676"/>
          <a:ext cx="10972800" cy="248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063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Issue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Cause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How to Fix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“Undefined variable” error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Missing data from controller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Pass variable via </a:t>
                      </a:r>
                      <a:r>
                        <a:rPr lang="en-US" sz="160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compact()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“Target class does not exist”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Incorrect controller reference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Check namespace/import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“Class not found”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Missing model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Run </a:t>
                      </a:r>
                      <a:r>
                        <a:rPr lang="en-US" sz="160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composer dump-autoload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Layout not updating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Cached Blade templates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Run </a:t>
                      </a:r>
                      <a:r>
                        <a:rPr lang="en-US" sz="1600" dirty="0" err="1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php</a:t>
                      </a:r>
                      <a:r>
                        <a:rPr lang="en-US" sz="1600" dirty="0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 artisan </a:t>
                      </a:r>
                      <a:r>
                        <a:rPr lang="en-US" sz="1600" dirty="0" err="1">
                          <a:effectLst/>
                          <a:latin typeface="Courier New"/>
                          <a:ea typeface="Times New Roman"/>
                          <a:cs typeface="Times New Roman"/>
                        </a:rPr>
                        <a:t>view:clear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07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and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Today’s focus</a:t>
            </a:r>
            <a:r>
              <a:rPr lang="en-US" sz="3200" dirty="0"/>
              <a:t>: Code-level modification and understanding.</a:t>
            </a:r>
          </a:p>
          <a:p>
            <a:r>
              <a:rPr lang="en-US" sz="3200" b="1" dirty="0"/>
              <a:t>Key takeaway</a:t>
            </a:r>
            <a:r>
              <a:rPr lang="en-US" sz="3200" dirty="0"/>
              <a:t>: Learn structure before changing logic.</a:t>
            </a:r>
          </a:p>
          <a:p>
            <a:r>
              <a:rPr lang="en-US" sz="3200" b="1" dirty="0"/>
              <a:t>Reflection Questions:</a:t>
            </a:r>
          </a:p>
          <a:p>
            <a:pPr lvl="1"/>
            <a:r>
              <a:rPr lang="en-US" sz="2800" dirty="0"/>
              <a:t>What was the most confusing part of </a:t>
            </a:r>
            <a:r>
              <a:rPr lang="en-US" sz="2800" dirty="0" err="1"/>
              <a:t>Laravel’s</a:t>
            </a:r>
            <a:r>
              <a:rPr lang="en-US" sz="2800" dirty="0"/>
              <a:t> structure?</a:t>
            </a:r>
          </a:p>
          <a:p>
            <a:pPr lvl="1"/>
            <a:r>
              <a:rPr lang="en-US" sz="2800" dirty="0"/>
              <a:t>Which module was easiest to modify</a:t>
            </a:r>
            <a:r>
              <a:rPr lang="en-US" sz="2800" dirty="0" smtClean="0"/>
              <a:t>?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2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 descr="Thank You Letter Danger: 5 Things You Should Never Include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Bekalu and Andargachew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64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608</TotalTime>
  <Words>3001</Words>
  <Application>Microsoft Office PowerPoint</Application>
  <PresentationFormat>Custom</PresentationFormat>
  <Paragraphs>532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Clarity</vt:lpstr>
      <vt:lpstr>PowerPoint Presentation</vt:lpstr>
      <vt:lpstr>Exploring the DLC Content Management System</vt:lpstr>
      <vt:lpstr>What is DLC Content Management?</vt:lpstr>
      <vt:lpstr>PowerPoint Presentation</vt:lpstr>
      <vt:lpstr>Landing Page (Public Use Only)</vt:lpstr>
      <vt:lpstr>PowerPoint Presentation</vt:lpstr>
      <vt:lpstr>Structure of the Landing Page</vt:lpstr>
      <vt:lpstr>Search Functionalities</vt:lpstr>
      <vt:lpstr>Content Category Interaction</vt:lpstr>
      <vt:lpstr>Digital Content Playback</vt:lpstr>
      <vt:lpstr>Exercise 1: Explore the Landing Page</vt:lpstr>
      <vt:lpstr>Login Page</vt:lpstr>
      <vt:lpstr>Exercise 2: Access the Dashboard</vt:lpstr>
      <vt:lpstr>Dashboard</vt:lpstr>
      <vt:lpstr>Dashboard Components</vt:lpstr>
      <vt:lpstr>Exercise 3: Analyze the Dashboard</vt:lpstr>
      <vt:lpstr>Profile Management</vt:lpstr>
      <vt:lpstr>Available Functions</vt:lpstr>
      <vt:lpstr>Exercise 4: Update Profile Settings</vt:lpstr>
      <vt:lpstr>Discussion &amp; Q&amp;A (10 minutes)</vt:lpstr>
      <vt:lpstr>Exploring the DLC Content Management System (continue)</vt:lpstr>
      <vt:lpstr>Employee Management</vt:lpstr>
      <vt:lpstr>Employee Management - Operations</vt:lpstr>
      <vt:lpstr>Exercise 1 : Hands-on Task</vt:lpstr>
      <vt:lpstr>Customer Management</vt:lpstr>
      <vt:lpstr>Customer Management - Operations</vt:lpstr>
      <vt:lpstr>Exercise 2 : Hands-on Task</vt:lpstr>
      <vt:lpstr>Content Category Management</vt:lpstr>
      <vt:lpstr>Content Category Management - Operations</vt:lpstr>
      <vt:lpstr>Exercise 3 : Hands-on Task</vt:lpstr>
      <vt:lpstr>Digital Content Management</vt:lpstr>
      <vt:lpstr>Digital Content Management - Operations</vt:lpstr>
      <vt:lpstr>Exercise 4 : Hands-on Task</vt:lpstr>
      <vt:lpstr>Q&amp;A and Reflection (15 minutes)</vt:lpstr>
      <vt:lpstr>Backend &amp; Frontend Editing</vt:lpstr>
      <vt:lpstr>Code Overview</vt:lpstr>
      <vt:lpstr>Exercise 1:</vt:lpstr>
      <vt:lpstr>Database Connection Setup</vt:lpstr>
      <vt:lpstr>Exercise 2:</vt:lpstr>
      <vt:lpstr>Routing Overview</vt:lpstr>
      <vt:lpstr>Exercise 3:</vt:lpstr>
      <vt:lpstr>Managing Controllers</vt:lpstr>
      <vt:lpstr>Exercise 4:</vt:lpstr>
      <vt:lpstr>Managing Models</vt:lpstr>
      <vt:lpstr>Exercise 5:</vt:lpstr>
      <vt:lpstr>Managing Resources Folder</vt:lpstr>
      <vt:lpstr>Exercise 6:</vt:lpstr>
      <vt:lpstr>Editing Specific Page</vt:lpstr>
      <vt:lpstr>Exercise 7: Editing Specific Page</vt:lpstr>
      <vt:lpstr>Backend &amp; Frontend Editing - Continue</vt:lpstr>
      <vt:lpstr>Code Review Approach</vt:lpstr>
      <vt:lpstr>Employee Management Code Editing</vt:lpstr>
      <vt:lpstr>Exercise 1:</vt:lpstr>
      <vt:lpstr>Customer Management Code Editing</vt:lpstr>
      <vt:lpstr>Exercise 2:</vt:lpstr>
      <vt:lpstr>Content Category Management Code Editing </vt:lpstr>
      <vt:lpstr>Exercise 3:</vt:lpstr>
      <vt:lpstr>Digital Content Management Code Editing</vt:lpstr>
      <vt:lpstr>Exercise 4:</vt:lpstr>
      <vt:lpstr>Hands-On Code Editing Practice</vt:lpstr>
      <vt:lpstr>Best Practices for Safe Editing</vt:lpstr>
      <vt:lpstr>Common Editing Challenges</vt:lpstr>
      <vt:lpstr>Summary and Reflection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Woldegebreal, Bekalu</dc:creator>
  <cp:lastModifiedBy>Windows User</cp:lastModifiedBy>
  <cp:revision>229</cp:revision>
  <dcterms:created xsi:type="dcterms:W3CDTF">2025-11-06T19:10:33Z</dcterms:created>
  <dcterms:modified xsi:type="dcterms:W3CDTF">2025-11-07T16:16:23Z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