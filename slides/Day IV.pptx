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8"/>
  </p:notesMasterIdLst>
  <p:sldIdLst>
    <p:sldId id="256" r:id="rId3"/>
    <p:sldId id="378" r:id="rId4"/>
    <p:sldId id="490" r:id="rId5"/>
    <p:sldId id="491" r:id="rId6"/>
    <p:sldId id="480" r:id="rId7"/>
    <p:sldId id="492" r:id="rId8"/>
    <p:sldId id="478" r:id="rId9"/>
    <p:sldId id="525" r:id="rId10"/>
    <p:sldId id="479" r:id="rId11"/>
    <p:sldId id="493" r:id="rId12"/>
    <p:sldId id="482" r:id="rId13"/>
    <p:sldId id="483" r:id="rId14"/>
    <p:sldId id="494" r:id="rId15"/>
    <p:sldId id="485" r:id="rId16"/>
    <p:sldId id="486" r:id="rId17"/>
    <p:sldId id="487" r:id="rId18"/>
    <p:sldId id="488" r:id="rId19"/>
    <p:sldId id="489" r:id="rId20"/>
    <p:sldId id="495" r:id="rId21"/>
    <p:sldId id="496" r:id="rId22"/>
    <p:sldId id="497" r:id="rId23"/>
    <p:sldId id="500" r:id="rId24"/>
    <p:sldId id="516" r:id="rId25"/>
    <p:sldId id="501" r:id="rId26"/>
    <p:sldId id="503" r:id="rId27"/>
    <p:sldId id="505" r:id="rId28"/>
    <p:sldId id="506" r:id="rId29"/>
    <p:sldId id="507" r:id="rId30"/>
    <p:sldId id="508" r:id="rId31"/>
    <p:sldId id="509" r:id="rId32"/>
    <p:sldId id="510" r:id="rId33"/>
    <p:sldId id="511" r:id="rId34"/>
    <p:sldId id="518" r:id="rId35"/>
    <p:sldId id="512" r:id="rId36"/>
    <p:sldId id="519" r:id="rId37"/>
    <p:sldId id="523" r:id="rId38"/>
    <p:sldId id="524" r:id="rId39"/>
    <p:sldId id="513" r:id="rId40"/>
    <p:sldId id="514" r:id="rId41"/>
    <p:sldId id="515" r:id="rId42"/>
    <p:sldId id="502" r:id="rId43"/>
    <p:sldId id="520" r:id="rId44"/>
    <p:sldId id="521" r:id="rId45"/>
    <p:sldId id="522" r:id="rId46"/>
    <p:sldId id="323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æ·±è²æ ·å¼ 1 - å¼ºè°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ä¸­åº¦æ ·å¼ 2 - å¼ºè°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25" autoAdjust="0"/>
    <p:restoredTop sz="93741" autoAdjust="0"/>
  </p:normalViewPr>
  <p:slideViewPr>
    <p:cSldViewPr snapToGrid="0">
      <p:cViewPr varScale="1">
        <p:scale>
          <a:sx n="41" d="100"/>
          <a:sy n="41" d="100"/>
        </p:scale>
        <p:origin x="-120" y="-7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3.xml"/><Relationship Id="rId49" Type="http://schemas.openxmlformats.org/officeDocument/2006/relationships/presProps" Target="presProps.xml"/><Relationship Id="rId48" Type="http://schemas.openxmlformats.org/officeDocument/2006/relationships/notesMaster" Target="notesMasters/notesMaster1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56052-7B69-4CB1-ABD2-59AD2EE37E3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AF9CC9-BC6C-4D23-B819-616CFF3662E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3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280F-E433-4903-A06E-0B8753D81C8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DD2EA-206D-453A-8405-C447881FF781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7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799A7-A01B-483B-8CFF-61FAAFAB99CE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BBDC3-E92E-40E4-8599-77AFE6CF4AF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5C39-358F-4C2C-B9AA-0CCAFC508A4C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4461-0EFB-4CFA-89E2-F818F7A4CFA2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5CF33-AC62-429D-B92A-8A682E7F3629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5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88CCA-9D92-44C0-955A-964904024BF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3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15275-427A-4FBB-B2D9-C27E423DD49D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52B9F-7481-41B3-BB64-68F34EB062B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D3CC-1745-4E4F-8BE2-1CF414F3DE15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45B9EA76-9F98-4780-8EF7-CC65503A1128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8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anose="0208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8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8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8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8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expo.dev/signup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-scm.com/install/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5692" y="3775607"/>
            <a:ext cx="10993547" cy="2006628"/>
          </a:xfrm>
        </p:spPr>
        <p:txBody>
          <a:bodyPr>
            <a:noAutofit/>
          </a:bodyPr>
          <a:lstStyle/>
          <a:p>
            <a:pPr algn="ctr"/>
            <a:r>
              <a:rPr lang="en-US" altLang="en-US" sz="5400" b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Mobile App and Source Code Management</a:t>
            </a:r>
            <a:endParaRPr lang="en-US" altLang="en-US" sz="8800" dirty="0">
              <a:latin typeface="Sitka Text Semibold" pitchFamily="2" charset="0"/>
            </a:endParaRPr>
          </a:p>
        </p:txBody>
      </p:sp>
      <p:pic>
        <p:nvPicPr>
          <p:cNvPr id="2" name="Picture 2" descr="Elementor Footer 02 – Digital Ethiopia Learning Platform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98"/>
          <a:stretch>
            <a:fillRect/>
          </a:stretch>
        </p:blipFill>
        <p:spPr bwMode="auto">
          <a:xfrm>
            <a:off x="298383" y="471081"/>
            <a:ext cx="2954907" cy="267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50" b="23113"/>
          <a:stretch>
            <a:fillRect/>
          </a:stretch>
        </p:blipFill>
        <p:spPr bwMode="auto">
          <a:xfrm>
            <a:off x="7629067" y="592011"/>
            <a:ext cx="4264551" cy="247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/>
          <p:nvPr/>
        </p:nvSpPr>
        <p:spPr>
          <a:xfrm>
            <a:off x="10367532" y="5855290"/>
            <a:ext cx="1627244" cy="6627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 cap="all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ym typeface="+mn-ea"/>
              </a:rPr>
              <a:t>Day IV</a:t>
            </a:r>
            <a:endParaRPr lang="en-US" sz="2800" b="1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0" y="19786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Mobile </a:t>
            </a:r>
            <a:r>
              <a:rPr lang="en-US" b="1" dirty="0"/>
              <a:t>App Overview and Demonstration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73780"/>
            <a:ext cx="10515600" cy="2603500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Learning Objectives:</a:t>
            </a:r>
            <a:endParaRPr lang="en-US" dirty="0"/>
          </a:p>
          <a:p>
            <a:pPr lvl="1"/>
            <a:r>
              <a:rPr lang="en-US" sz="2100" dirty="0" smtClean="0"/>
              <a:t>Understand </a:t>
            </a:r>
            <a:r>
              <a:rPr lang="en-US" sz="2100" dirty="0"/>
              <a:t>the structure and workflow of the React Native (Expo) mobile application integrated with the DLC backend</a:t>
            </a:r>
            <a:r>
              <a:rPr lang="en-US" sz="2100" dirty="0" smtClean="0"/>
              <a:t>.</a:t>
            </a:r>
            <a:endParaRPr lang="en-US" sz="2100" dirty="0" smtClean="0"/>
          </a:p>
          <a:p>
            <a:pPr lvl="1"/>
            <a:r>
              <a:rPr lang="en-US" sz="2100" dirty="0"/>
              <a:t>Demonstrate key mobile features including user registration, content browsing, downloading, search, profile management, and favorites.</a:t>
            </a:r>
            <a:endParaRPr lang="en-US" sz="2100" dirty="0"/>
          </a:p>
          <a:p>
            <a:pPr lvl="1"/>
            <a:r>
              <a:rPr lang="en-US" sz="2100" dirty="0" smtClean="0"/>
              <a:t>Configure </a:t>
            </a:r>
            <a:r>
              <a:rPr lang="en-US" sz="2100" dirty="0"/>
              <a:t>and customize branding elements such as logo, color theme, and app name.</a:t>
            </a:r>
            <a:endParaRPr lang="en-US" sz="2100" dirty="0"/>
          </a:p>
          <a:p>
            <a:pPr lvl="1"/>
            <a:r>
              <a:rPr lang="en-US" sz="2100" dirty="0"/>
              <a:t>Set up and test API connections between the app and the </a:t>
            </a:r>
            <a:r>
              <a:rPr lang="en-US" sz="2100" dirty="0" err="1"/>
              <a:t>Laravel</a:t>
            </a:r>
            <a:r>
              <a:rPr lang="en-US" sz="2100" dirty="0"/>
              <a:t> backend</a:t>
            </a:r>
            <a:r>
              <a:rPr lang="en-US" sz="2100" dirty="0" smtClean="0"/>
              <a:t>.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281354" y="570232"/>
            <a:ext cx="113035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>
                <a:sym typeface="+mn-ea"/>
              </a:rPr>
              <a:t>Session - 1</a:t>
            </a:r>
            <a:endParaRPr lang="en-US" alt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Understanding React Native and Expo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What is React Native?</a:t>
            </a:r>
            <a:endParaRPr lang="en-US" sz="2800" b="1" dirty="0"/>
          </a:p>
          <a:p>
            <a:pPr lvl="1"/>
            <a:r>
              <a:rPr lang="en-US" sz="2400" b="1" dirty="0"/>
              <a:t>React Native</a:t>
            </a:r>
            <a:r>
              <a:rPr lang="en-US" sz="2400" dirty="0"/>
              <a:t> is a </a:t>
            </a:r>
            <a:r>
              <a:rPr lang="en-US" sz="2400" b="1" dirty="0"/>
              <a:t>cross-platform framework</a:t>
            </a:r>
            <a:r>
              <a:rPr lang="en-US" sz="2400" dirty="0"/>
              <a:t> developed by Meta (Facebook) for building mobile applications using </a:t>
            </a:r>
            <a:r>
              <a:rPr lang="en-US" sz="2400" b="1" dirty="0"/>
              <a:t>JavaScript</a:t>
            </a:r>
            <a:r>
              <a:rPr lang="en-US" sz="2400" dirty="0"/>
              <a:t> and </a:t>
            </a:r>
            <a:r>
              <a:rPr lang="en-US" sz="2400" b="1" dirty="0"/>
              <a:t>React</a:t>
            </a:r>
            <a:r>
              <a:rPr lang="en-US" sz="2400" dirty="0"/>
              <a:t>.</a:t>
            </a:r>
            <a:endParaRPr lang="en-US" sz="2400" dirty="0"/>
          </a:p>
          <a:p>
            <a:pPr lvl="1"/>
            <a:r>
              <a:rPr lang="en-US" sz="2400" dirty="0"/>
              <a:t>It allows you to build </a:t>
            </a:r>
            <a:r>
              <a:rPr lang="en-US" sz="2400" b="1" dirty="0"/>
              <a:t>native-quality</a:t>
            </a:r>
            <a:r>
              <a:rPr lang="en-US" sz="2400" dirty="0"/>
              <a:t> Android and </a:t>
            </a:r>
            <a:r>
              <a:rPr lang="en-US" sz="2400" dirty="0" err="1"/>
              <a:t>iOS</a:t>
            </a:r>
            <a:r>
              <a:rPr lang="en-US" sz="2400" dirty="0"/>
              <a:t> apps </a:t>
            </a:r>
            <a:r>
              <a:rPr lang="en-US" sz="2400" b="1" dirty="0"/>
              <a:t>from a single codebase</a:t>
            </a:r>
            <a:r>
              <a:rPr lang="en-US" sz="2400" dirty="0"/>
              <a:t>.</a:t>
            </a:r>
            <a:endParaRPr lang="en-US" sz="2400" dirty="0"/>
          </a:p>
          <a:p>
            <a:pPr lvl="1"/>
            <a:r>
              <a:rPr lang="en-US" sz="2400" dirty="0"/>
              <a:t>React Native uses </a:t>
            </a:r>
            <a:r>
              <a:rPr lang="en-US" sz="2400" b="1" dirty="0"/>
              <a:t>native components</a:t>
            </a:r>
            <a:r>
              <a:rPr lang="en-US" sz="2400" dirty="0"/>
              <a:t> instead of web components, ensuring a smoother and faster mobile experience.</a:t>
            </a:r>
            <a:endParaRPr lang="en-US" sz="2400" dirty="0"/>
          </a:p>
          <a:p>
            <a:pPr lvl="1"/>
            <a:r>
              <a:rPr lang="en-US" sz="2400" b="1" dirty="0"/>
              <a:t>Key Benefits:</a:t>
            </a:r>
            <a:endParaRPr lang="en-US" sz="2400" dirty="0"/>
          </a:p>
          <a:p>
            <a:pPr lvl="2"/>
            <a:r>
              <a:rPr lang="en-US" sz="2000" dirty="0"/>
              <a:t>Code once, deploy on both Android and </a:t>
            </a:r>
            <a:r>
              <a:rPr lang="en-US" sz="2000" dirty="0" err="1"/>
              <a:t>iOS</a:t>
            </a:r>
            <a:r>
              <a:rPr lang="en-US" sz="2000" dirty="0"/>
              <a:t>.</a:t>
            </a:r>
            <a:endParaRPr lang="en-US" sz="2000" dirty="0"/>
          </a:p>
          <a:p>
            <a:pPr lvl="2"/>
            <a:r>
              <a:rPr lang="en-US" sz="2000" dirty="0"/>
              <a:t>Reusable components with consistent UI.</a:t>
            </a:r>
            <a:endParaRPr lang="en-US" sz="2000" dirty="0"/>
          </a:p>
          <a:p>
            <a:pPr lvl="2"/>
            <a:r>
              <a:rPr lang="en-US" sz="2000" dirty="0"/>
              <a:t>Easy integration with APIs and </a:t>
            </a:r>
            <a:r>
              <a:rPr lang="en-US" sz="2000" dirty="0" err="1"/>
              <a:t>backends</a:t>
            </a:r>
            <a:r>
              <a:rPr lang="en-US" sz="2000" dirty="0"/>
              <a:t> (like </a:t>
            </a:r>
            <a:r>
              <a:rPr lang="en-US" sz="2000" dirty="0" err="1"/>
              <a:t>Laravel</a:t>
            </a:r>
            <a:r>
              <a:rPr lang="en-US" sz="2000" dirty="0"/>
              <a:t>).</a:t>
            </a:r>
            <a:endParaRPr lang="en-US" sz="2000" dirty="0"/>
          </a:p>
          <a:p>
            <a:pPr lvl="2"/>
            <a:r>
              <a:rPr lang="en-US" sz="2000" dirty="0"/>
              <a:t>Large developer community and open-source support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Expo?</a:t>
            </a:r>
            <a:endParaRPr lang="en-US" b="1" dirty="0"/>
          </a:p>
          <a:p>
            <a:pPr lvl="1"/>
            <a:r>
              <a:rPr lang="en-US" b="1" dirty="0"/>
              <a:t>Expo</a:t>
            </a:r>
            <a:r>
              <a:rPr lang="en-US" dirty="0"/>
              <a:t> is a development platform and toolkit built around React Native that simplifies app creation, testing, and deployment.</a:t>
            </a:r>
            <a:endParaRPr lang="en-US" dirty="0"/>
          </a:p>
          <a:p>
            <a:pPr lvl="1"/>
            <a:r>
              <a:rPr lang="en-US" dirty="0"/>
              <a:t>It provides prebuilt APIs and utilities that eliminate complex native setup.</a:t>
            </a:r>
            <a:endParaRPr lang="en-US" dirty="0"/>
          </a:p>
          <a:p>
            <a:pPr lvl="1"/>
            <a:r>
              <a:rPr lang="en-US" b="1" dirty="0"/>
              <a:t>Key Features:</a:t>
            </a:r>
            <a:endParaRPr lang="en-US" dirty="0"/>
          </a:p>
          <a:p>
            <a:pPr lvl="2"/>
            <a:r>
              <a:rPr lang="en-US" b="1" dirty="0"/>
              <a:t>No Android Studio or </a:t>
            </a:r>
            <a:r>
              <a:rPr lang="en-US" b="1" dirty="0" err="1"/>
              <a:t>Xcode</a:t>
            </a:r>
            <a:r>
              <a:rPr lang="en-US" b="1" dirty="0"/>
              <a:t> needed</a:t>
            </a:r>
            <a:r>
              <a:rPr lang="en-US" dirty="0"/>
              <a:t> to start.</a:t>
            </a:r>
            <a:endParaRPr lang="en-US" dirty="0"/>
          </a:p>
          <a:p>
            <a:pPr lvl="2"/>
            <a:r>
              <a:rPr lang="en-US" b="1" dirty="0"/>
              <a:t>Expo Go App</a:t>
            </a:r>
            <a:r>
              <a:rPr lang="en-US" dirty="0"/>
              <a:t> allows you to preview the app instantly on your mobile.</a:t>
            </a:r>
            <a:endParaRPr lang="en-US" dirty="0"/>
          </a:p>
          <a:p>
            <a:pPr lvl="2"/>
            <a:r>
              <a:rPr lang="en-US" dirty="0"/>
              <a:t>Simplified </a:t>
            </a:r>
            <a:r>
              <a:rPr lang="en-US" b="1" dirty="0"/>
              <a:t>building and signing</a:t>
            </a:r>
            <a:r>
              <a:rPr lang="en-US" dirty="0"/>
              <a:t> of APK/IPA files.</a:t>
            </a:r>
            <a:endParaRPr lang="en-US" dirty="0"/>
          </a:p>
          <a:p>
            <a:pPr lvl="2"/>
            <a:r>
              <a:rPr lang="en-US" dirty="0"/>
              <a:t>Easy access to device features (camera, file system, notifications, etc.).</a:t>
            </a:r>
            <a:endParaRPr lang="en-US" dirty="0"/>
          </a:p>
          <a:p>
            <a:pPr lvl="1"/>
            <a:r>
              <a:rPr lang="en-US" b="1" dirty="0"/>
              <a:t>How Expo Integrates with the DLC App</a:t>
            </a:r>
            <a:endParaRPr lang="en-US" b="1" dirty="0"/>
          </a:p>
          <a:p>
            <a:pPr lvl="2"/>
            <a:r>
              <a:rPr lang="en-US" dirty="0"/>
              <a:t>The </a:t>
            </a:r>
            <a:r>
              <a:rPr lang="en-US" b="1" dirty="0"/>
              <a:t>frontend</a:t>
            </a:r>
            <a:r>
              <a:rPr lang="en-US" dirty="0"/>
              <a:t> (React Native) fetches content through </a:t>
            </a:r>
            <a:r>
              <a:rPr lang="en-US" b="1" dirty="0" err="1"/>
              <a:t>Laravel</a:t>
            </a:r>
            <a:r>
              <a:rPr lang="en-US" b="1" dirty="0"/>
              <a:t> API endpoints</a:t>
            </a:r>
            <a:r>
              <a:rPr lang="en-US" dirty="0"/>
              <a:t>.</a:t>
            </a:r>
            <a:endParaRPr lang="en-US" dirty="0"/>
          </a:p>
          <a:p>
            <a:pPr lvl="2"/>
            <a:r>
              <a:rPr lang="en-US" dirty="0"/>
              <a:t>Changes in backend data (like new videos or users) are reflected automatically in the mobile app through API synchronization.</a:t>
            </a:r>
            <a:endParaRPr lang="en-US" dirty="0"/>
          </a:p>
          <a:p>
            <a:pPr lvl="2"/>
            <a:r>
              <a:rPr lang="en-US" dirty="0"/>
              <a:t>The app’s structure, styling, and branding are managed in Expo’s development environment.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Demonstration of Major </a:t>
            </a:r>
            <a:r>
              <a:rPr lang="en-US" b="1" dirty="0" smtClean="0"/>
              <a:t>Features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This segment highlights how backend data flows into the app for end users.</a:t>
            </a:r>
            <a:endParaRPr lang="en-US" sz="2800" dirty="0"/>
          </a:p>
          <a:p>
            <a:r>
              <a:rPr lang="en-US" sz="2800" b="1" dirty="0"/>
              <a:t>Features </a:t>
            </a:r>
            <a:r>
              <a:rPr lang="en-US" sz="2800" b="1" dirty="0" smtClean="0"/>
              <a:t>Demonstrated:</a:t>
            </a:r>
            <a:endParaRPr lang="en-US" sz="2800" dirty="0" smtClean="0"/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 smtClean="0"/>
              <a:t>User </a:t>
            </a:r>
            <a:r>
              <a:rPr lang="en-US" sz="2400" b="1" dirty="0"/>
              <a:t>Registration</a:t>
            </a:r>
            <a:r>
              <a:rPr lang="en-US" sz="2400" dirty="0"/>
              <a:t> – Create a new user account and verify </a:t>
            </a:r>
            <a:r>
              <a:rPr lang="en-US" sz="2400" dirty="0" smtClean="0"/>
              <a:t>access.</a:t>
            </a:r>
            <a:endParaRPr lang="en-US" sz="2400" dirty="0" smtClean="0"/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 smtClean="0"/>
              <a:t>Exploring </a:t>
            </a:r>
            <a:r>
              <a:rPr lang="en-US" sz="2400" b="1" dirty="0"/>
              <a:t>Learning Resources</a:t>
            </a:r>
            <a:r>
              <a:rPr lang="en-US" sz="2400" dirty="0"/>
              <a:t> – View videos and </a:t>
            </a:r>
            <a:r>
              <a:rPr lang="en-US" sz="2400" dirty="0" smtClean="0"/>
              <a:t>categories.</a:t>
            </a:r>
            <a:endParaRPr lang="en-US" sz="2400" dirty="0" smtClean="0"/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 smtClean="0"/>
              <a:t>Download </a:t>
            </a:r>
            <a:r>
              <a:rPr lang="en-US" sz="2400" b="1" dirty="0"/>
              <a:t>Functionality</a:t>
            </a:r>
            <a:r>
              <a:rPr lang="en-US" sz="2400" dirty="0"/>
              <a:t> – Download a video for offline </a:t>
            </a:r>
            <a:r>
              <a:rPr lang="en-US" sz="2400" dirty="0" smtClean="0"/>
              <a:t>viewing.</a:t>
            </a:r>
            <a:endParaRPr lang="en-US" sz="2400" dirty="0" smtClean="0"/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 smtClean="0"/>
              <a:t>Search</a:t>
            </a:r>
            <a:r>
              <a:rPr lang="en-US" sz="2400" dirty="0" smtClean="0"/>
              <a:t> </a:t>
            </a:r>
            <a:r>
              <a:rPr lang="en-US" sz="2400" dirty="0"/>
              <a:t>– Find content by keyword or </a:t>
            </a:r>
            <a:r>
              <a:rPr lang="en-US" sz="2400" dirty="0" smtClean="0"/>
              <a:t>category.</a:t>
            </a:r>
            <a:endParaRPr lang="en-US" sz="2400" dirty="0" smtClean="0"/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 smtClean="0"/>
              <a:t>Profile </a:t>
            </a:r>
            <a:r>
              <a:rPr lang="en-US" sz="2400" b="1" dirty="0"/>
              <a:t>Management</a:t>
            </a:r>
            <a:r>
              <a:rPr lang="en-US" sz="2400" dirty="0"/>
              <a:t> – Update user info or change </a:t>
            </a:r>
            <a:r>
              <a:rPr lang="en-US" sz="2400" dirty="0" smtClean="0"/>
              <a:t>password.</a:t>
            </a:r>
            <a:endParaRPr lang="en-US" sz="2400" dirty="0" smtClean="0"/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 smtClean="0"/>
              <a:t>Favorite </a:t>
            </a:r>
            <a:r>
              <a:rPr lang="en-US" sz="2400" b="1" dirty="0"/>
              <a:t>Learning Resources</a:t>
            </a:r>
            <a:r>
              <a:rPr lang="en-US" sz="2400" dirty="0"/>
              <a:t> – Add or remove favorite videos.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Exercise 1: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Log </a:t>
            </a:r>
            <a:r>
              <a:rPr lang="en-US" sz="2800" dirty="0"/>
              <a:t>in or register as a new user.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Search for a topic and play a video.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Download one video and confirm it plays offline.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Add one resource to Favorites and verify it appears in the Favorites tab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Understanding React Native Expo App Structure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Every mobile app has a </a:t>
            </a:r>
            <a:r>
              <a:rPr lang="en-US" sz="2800" b="1" dirty="0"/>
              <a:t>specific file and folder structure </a:t>
            </a:r>
            <a:r>
              <a:rPr lang="en-US" sz="2800" dirty="0"/>
              <a:t>that defines its </a:t>
            </a:r>
            <a:r>
              <a:rPr lang="en-US" sz="2800" b="1" dirty="0"/>
              <a:t>behavior</a:t>
            </a:r>
            <a:r>
              <a:rPr lang="en-US" sz="2800" dirty="0"/>
              <a:t>, </a:t>
            </a:r>
            <a:r>
              <a:rPr lang="en-US" sz="2800" b="1" dirty="0"/>
              <a:t>interface</a:t>
            </a:r>
            <a:r>
              <a:rPr lang="en-US" sz="2800" dirty="0"/>
              <a:t>, and </a:t>
            </a:r>
            <a:r>
              <a:rPr lang="en-US" sz="2800" b="1" dirty="0"/>
              <a:t>navigation</a:t>
            </a:r>
            <a:r>
              <a:rPr lang="en-US" sz="2800" dirty="0"/>
              <a:t>. </a:t>
            </a:r>
            <a:endParaRPr lang="en-US" sz="2800" dirty="0" smtClean="0"/>
          </a:p>
          <a:p>
            <a:pPr lvl="1"/>
            <a:r>
              <a:rPr lang="en-US" sz="2400" dirty="0" smtClean="0"/>
              <a:t>Understanding </a:t>
            </a:r>
            <a:r>
              <a:rPr lang="en-US" sz="2400" dirty="0"/>
              <a:t>this structure helps administrators and developers locate files quickly when they need to </a:t>
            </a:r>
            <a:r>
              <a:rPr lang="en-US" sz="2400" dirty="0" smtClean="0"/>
              <a:t>edit </a:t>
            </a:r>
            <a:r>
              <a:rPr lang="en-US" sz="2400" dirty="0"/>
              <a:t>or troubleshoot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 lvl="1"/>
            <a:r>
              <a:rPr lang="en-US" sz="2400" b="1" dirty="0"/>
              <a:t>Folder structure overview</a:t>
            </a:r>
            <a:r>
              <a:rPr lang="en-US" sz="2400" b="1" dirty="0" smtClean="0"/>
              <a:t>:</a:t>
            </a:r>
            <a:endParaRPr lang="en-US" sz="2400" b="1" dirty="0" smtClean="0"/>
          </a:p>
          <a:p>
            <a:pPr lvl="2"/>
            <a:r>
              <a:rPr lang="en-US" sz="2000" dirty="0"/>
              <a:t>/</a:t>
            </a:r>
            <a:r>
              <a:rPr lang="en-US" sz="2000" dirty="0" smtClean="0"/>
              <a:t>assets </a:t>
            </a:r>
            <a:r>
              <a:rPr lang="en-US" sz="2000" dirty="0"/>
              <a:t>→ </a:t>
            </a:r>
            <a:r>
              <a:rPr lang="en-US" sz="2000" dirty="0" smtClean="0"/>
              <a:t> a </a:t>
            </a:r>
            <a:r>
              <a:rPr lang="en-US" sz="2000" dirty="0"/>
              <a:t>dedicated location for storing static resources</a:t>
            </a:r>
            <a:endParaRPr lang="en-US" sz="2000" dirty="0"/>
          </a:p>
          <a:p>
            <a:pPr lvl="2"/>
            <a:r>
              <a:rPr lang="en-US" sz="2000" dirty="0"/>
              <a:t>App.js → main entry point of the application.</a:t>
            </a:r>
            <a:endParaRPr lang="en-US" sz="2000" dirty="0"/>
          </a:p>
          <a:p>
            <a:pPr lvl="2"/>
            <a:r>
              <a:rPr lang="en-US" sz="2000" dirty="0"/>
              <a:t>/navigation → defines tab and stack navigation.</a:t>
            </a:r>
            <a:endParaRPr lang="en-US" sz="2000" dirty="0"/>
          </a:p>
          <a:p>
            <a:pPr lvl="2"/>
            <a:r>
              <a:rPr lang="en-US" sz="2000" dirty="0"/>
              <a:t>/screens → individual pages (Home, Login, Profile, etc.).</a:t>
            </a:r>
            <a:endParaRPr lang="en-US" sz="2000" dirty="0"/>
          </a:p>
          <a:p>
            <a:pPr lvl="2"/>
            <a:r>
              <a:rPr lang="en-US" sz="2000" dirty="0"/>
              <a:t>/components → reusable elements like buttons, cards.</a:t>
            </a:r>
            <a:endParaRPr lang="en-US" sz="2000" dirty="0"/>
          </a:p>
          <a:p>
            <a:pPr lvl="2"/>
            <a:r>
              <a:rPr lang="en-US" sz="2000" dirty="0"/>
              <a:t>/</a:t>
            </a:r>
            <a:r>
              <a:rPr lang="en-US" sz="2000" dirty="0" err="1"/>
              <a:t>config</a:t>
            </a:r>
            <a:r>
              <a:rPr lang="en-US" sz="2000" dirty="0"/>
              <a:t> → holds API configurations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073" y="1786791"/>
            <a:ext cx="5122702" cy="4801577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Exercise 2: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Open </a:t>
            </a:r>
            <a:r>
              <a:rPr lang="en-US" sz="2800" dirty="0"/>
              <a:t>the project in VS Code.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Explore and label each folder in your notes.</a:t>
            </a:r>
            <a:endParaRPr lang="en-US" sz="28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0" y="19786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Environmental </a:t>
            </a:r>
            <a:r>
              <a:rPr lang="en-US" b="1" dirty="0"/>
              <a:t>Setup and Managing Mobile App Code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73780"/>
            <a:ext cx="10515600" cy="26035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Learning Objectives:</a:t>
            </a:r>
            <a:endParaRPr lang="en-US" dirty="0"/>
          </a:p>
          <a:p>
            <a:pPr lvl="1"/>
            <a:r>
              <a:rPr lang="en-US" sz="2100" dirty="0" smtClean="0"/>
              <a:t>Set </a:t>
            </a:r>
            <a:r>
              <a:rPr lang="en-US" sz="2100" dirty="0"/>
              <a:t>up a working React Native + Expo development environment on their computer.</a:t>
            </a:r>
            <a:endParaRPr lang="en-US" sz="2100" dirty="0"/>
          </a:p>
          <a:p>
            <a:pPr lvl="1"/>
            <a:r>
              <a:rPr lang="en-US" sz="2100" dirty="0"/>
              <a:t>Understand and configure project settings (API links, dependencies, and environment files).</a:t>
            </a:r>
            <a:endParaRPr lang="en-US" sz="2100" dirty="0"/>
          </a:p>
          <a:p>
            <a:pPr lvl="1"/>
            <a:r>
              <a:rPr lang="en-US" sz="2100" dirty="0"/>
              <a:t>Run and test the mobile app both on an emulator and a physical mobile device.</a:t>
            </a:r>
            <a:endParaRPr lang="en-US" sz="2100" dirty="0"/>
          </a:p>
          <a:p>
            <a:pPr lvl="1"/>
            <a:r>
              <a:rPr lang="en-US" sz="2100" dirty="0"/>
              <a:t>Update text or interface content and observe changes in real-time.</a:t>
            </a:r>
            <a:endParaRPr lang="en-US" sz="2100" dirty="0"/>
          </a:p>
          <a:p>
            <a:pPr lvl="1"/>
            <a:r>
              <a:rPr lang="en-US" sz="2100" dirty="0"/>
              <a:t>Create an Expo account, build, and sign an APK for Android deployment</a:t>
            </a:r>
            <a:endParaRPr lang="en-US" sz="2100" dirty="0"/>
          </a:p>
          <a:p>
            <a:pPr lvl="1"/>
            <a:endParaRPr lang="en-US" dirty="0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281354" y="570232"/>
            <a:ext cx="113035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>
                <a:sym typeface="+mn-ea"/>
              </a:rPr>
              <a:t>Session - </a:t>
            </a:r>
            <a:r>
              <a:rPr lang="en-US" altLang="en-US" b="1" dirty="0" smtClean="0">
                <a:sym typeface="+mn-ea"/>
              </a:rPr>
              <a:t>2</a:t>
            </a:r>
            <a:endParaRPr lang="en-US" alt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Environment Setup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Before editing or deploying the mobile app, participants need a functional development environment. This section focuses on installing and configuring all essential tools for React Native with Expo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b="1" dirty="0" smtClean="0"/>
              <a:t>Tools Required</a:t>
            </a:r>
            <a:endParaRPr lang="en-US" b="1" dirty="0" smtClean="0"/>
          </a:p>
          <a:p>
            <a:pPr marL="731520" lvl="1" indent="-457200">
              <a:buFont typeface="+mj-lt"/>
              <a:buAutoNum type="arabicPeriod"/>
            </a:pPr>
            <a:r>
              <a:rPr lang="en-US" b="1" dirty="0"/>
              <a:t>Install Node.js</a:t>
            </a:r>
            <a:endParaRPr lang="en-US" dirty="0"/>
          </a:p>
          <a:p>
            <a:pPr lvl="2"/>
            <a:r>
              <a:rPr lang="en-US" dirty="0"/>
              <a:t>Verify installation using:</a:t>
            </a:r>
            <a:endParaRPr lang="en-US" dirty="0"/>
          </a:p>
          <a:p>
            <a:pPr lvl="2"/>
            <a:r>
              <a:rPr lang="en-US" b="1" dirty="0">
                <a:solidFill>
                  <a:schemeClr val="tx2"/>
                </a:solidFill>
              </a:rPr>
              <a:t>node -v </a:t>
            </a:r>
            <a:r>
              <a:rPr lang="en-US" b="1" dirty="0" err="1">
                <a:solidFill>
                  <a:schemeClr val="tx2"/>
                </a:solidFill>
              </a:rPr>
              <a:t>npm</a:t>
            </a:r>
            <a:r>
              <a:rPr lang="en-US" b="1" dirty="0">
                <a:solidFill>
                  <a:schemeClr val="tx2"/>
                </a:solidFill>
              </a:rPr>
              <a:t> -v </a:t>
            </a:r>
            <a:endParaRPr lang="en-US" b="1" dirty="0">
              <a:solidFill>
                <a:schemeClr val="tx2"/>
              </a:solidFill>
            </a:endParaRPr>
          </a:p>
          <a:p>
            <a:pPr marL="731520" lvl="1" indent="-457200">
              <a:buFont typeface="+mj-lt"/>
              <a:buAutoNum type="arabicPeriod"/>
            </a:pPr>
            <a:r>
              <a:rPr lang="en-US" b="1" dirty="0"/>
              <a:t>Install Expo CLI</a:t>
            </a:r>
            <a:endParaRPr lang="en-US" dirty="0"/>
          </a:p>
          <a:p>
            <a:pPr lvl="2"/>
            <a:r>
              <a:rPr lang="en-US" b="1" dirty="0" err="1">
                <a:solidFill>
                  <a:schemeClr val="tx2"/>
                </a:solidFill>
              </a:rPr>
              <a:t>npm</a:t>
            </a:r>
            <a:r>
              <a:rPr lang="en-US" b="1" dirty="0">
                <a:solidFill>
                  <a:schemeClr val="tx2"/>
                </a:solidFill>
              </a:rPr>
              <a:t> install -g expo-cli </a:t>
            </a:r>
            <a:endParaRPr lang="en-US" b="1" dirty="0">
              <a:solidFill>
                <a:schemeClr val="tx2"/>
              </a:solidFill>
            </a:endParaRPr>
          </a:p>
          <a:p>
            <a:pPr marL="731520" lvl="1" indent="-457200">
              <a:buFont typeface="+mj-lt"/>
              <a:buAutoNum type="arabicPeriod"/>
            </a:pPr>
            <a:r>
              <a:rPr lang="en-US" b="1" dirty="0"/>
              <a:t>Verify Expo Installation</a:t>
            </a:r>
            <a:endParaRPr lang="en-US" dirty="0"/>
          </a:p>
          <a:p>
            <a:pPr lvl="2"/>
            <a:r>
              <a:rPr lang="en-US" b="1" dirty="0">
                <a:solidFill>
                  <a:schemeClr val="tx2"/>
                </a:solidFill>
              </a:rPr>
              <a:t>expo --version </a:t>
            </a:r>
            <a:endParaRPr lang="en-US" b="1" dirty="0">
              <a:solidFill>
                <a:schemeClr val="tx2"/>
              </a:solidFill>
            </a:endParaRPr>
          </a:p>
          <a:p>
            <a:pPr marL="731520" lvl="1" indent="-457200">
              <a:buFont typeface="+mj-lt"/>
              <a:buAutoNum type="arabicPeriod"/>
            </a:pPr>
            <a:r>
              <a:rPr lang="en-US" b="1" dirty="0"/>
              <a:t>Open Project in VS Code</a:t>
            </a:r>
            <a:endParaRPr lang="en-US" dirty="0"/>
          </a:p>
          <a:p>
            <a:pPr lvl="2"/>
            <a:r>
              <a:rPr lang="en-US" dirty="0"/>
              <a:t>Navigate to project folder.</a:t>
            </a:r>
            <a:endParaRPr lang="en-US" dirty="0"/>
          </a:p>
          <a:p>
            <a:pPr lvl="2"/>
            <a:r>
              <a:rPr lang="en-US" dirty="0"/>
              <a:t>Ensure all dependencies are installed with:</a:t>
            </a:r>
            <a:endParaRPr lang="en-US" dirty="0"/>
          </a:p>
          <a:p>
            <a:pPr lvl="2"/>
            <a:r>
              <a:rPr lang="en-US" b="1" dirty="0" err="1">
                <a:solidFill>
                  <a:schemeClr val="tx2"/>
                </a:solidFill>
              </a:rPr>
              <a:t>npm</a:t>
            </a:r>
            <a:r>
              <a:rPr lang="en-US" b="1" dirty="0">
                <a:solidFill>
                  <a:schemeClr val="tx2"/>
                </a:solidFill>
              </a:rPr>
              <a:t> install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1: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Verify </a:t>
            </a:r>
            <a:r>
              <a:rPr lang="en-US" sz="2800" dirty="0"/>
              <a:t>your Node.js and Expo </a:t>
            </a:r>
            <a:r>
              <a:rPr lang="en-US" sz="2800" dirty="0" smtClean="0"/>
              <a:t>versions.</a:t>
            </a:r>
            <a:endParaRPr lang="en-US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Open </a:t>
            </a:r>
            <a:r>
              <a:rPr lang="en-US" sz="2800" dirty="0"/>
              <a:t>the DLC project folder and run</a:t>
            </a:r>
            <a:r>
              <a:rPr lang="en-US" sz="2800" b="1" dirty="0">
                <a:solidFill>
                  <a:schemeClr val="tx2"/>
                </a:solidFill>
              </a:rPr>
              <a:t> </a:t>
            </a:r>
            <a:r>
              <a:rPr lang="en-US" sz="2800" b="1" dirty="0" err="1">
                <a:solidFill>
                  <a:schemeClr val="tx2"/>
                </a:solidFill>
              </a:rPr>
              <a:t>npm</a:t>
            </a:r>
            <a:r>
              <a:rPr lang="en-US" sz="2800" b="1" dirty="0">
                <a:solidFill>
                  <a:schemeClr val="tx2"/>
                </a:solidFill>
              </a:rPr>
              <a:t> install </a:t>
            </a:r>
            <a:r>
              <a:rPr lang="en-US" sz="2800" dirty="0" smtClean="0"/>
              <a:t>successfully.</a:t>
            </a:r>
            <a:endParaRPr lang="en-US" sz="28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Installing Expo Go on Mobile &amp; Running the </a:t>
            </a:r>
            <a:r>
              <a:rPr lang="en-US" b="1" dirty="0" smtClean="0"/>
              <a:t>App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The </a:t>
            </a:r>
            <a:r>
              <a:rPr lang="en-US" sz="3200" b="1" dirty="0"/>
              <a:t>Expo Go</a:t>
            </a:r>
            <a:r>
              <a:rPr lang="en-US" sz="3200" dirty="0"/>
              <a:t> app enables developers and testers to view live updates of their project without building a full APK. It’s perfect for quick testing and demonstrations.</a:t>
            </a:r>
            <a:endParaRPr lang="en-US" sz="3200" dirty="0"/>
          </a:p>
          <a:p>
            <a:pPr marL="731520" lvl="1" indent="-457200">
              <a:buFont typeface="+mj-lt"/>
              <a:buAutoNum type="arabicPeriod"/>
            </a:pPr>
            <a:r>
              <a:rPr lang="en-US" sz="2800" dirty="0" smtClean="0"/>
              <a:t>Download </a:t>
            </a:r>
            <a:r>
              <a:rPr lang="en-US" sz="2800" b="1" dirty="0"/>
              <a:t>Expo Go</a:t>
            </a:r>
            <a:r>
              <a:rPr lang="en-US" sz="2800" dirty="0"/>
              <a:t> from the Play </a:t>
            </a:r>
            <a:r>
              <a:rPr lang="en-US" sz="2800" dirty="0" smtClean="0"/>
              <a:t>Store.</a:t>
            </a:r>
            <a:endParaRPr lang="en-US" sz="2800" dirty="0" smtClean="0"/>
          </a:p>
          <a:p>
            <a:pPr marL="731520" lvl="1" indent="-457200">
              <a:buFont typeface="+mj-lt"/>
              <a:buAutoNum type="arabicPeriod"/>
            </a:pPr>
            <a:r>
              <a:rPr lang="en-US" sz="2800" dirty="0"/>
              <a:t>Start the development server</a:t>
            </a:r>
            <a:endParaRPr lang="en-US" sz="2800" dirty="0"/>
          </a:p>
          <a:p>
            <a:pPr marL="548640" lvl="2" indent="0">
              <a:buNone/>
            </a:pPr>
            <a:r>
              <a:rPr lang="en-US" sz="2400" b="1" dirty="0" smtClean="0">
                <a:solidFill>
                  <a:schemeClr val="tx2"/>
                </a:solidFill>
              </a:rPr>
              <a:t>     	</a:t>
            </a:r>
            <a:r>
              <a:rPr lang="en-US" sz="2400" b="1" dirty="0" err="1" smtClean="0">
                <a:solidFill>
                  <a:schemeClr val="tx2"/>
                </a:solidFill>
              </a:rPr>
              <a:t>npx</a:t>
            </a:r>
            <a:r>
              <a:rPr lang="en-US" sz="2400" b="1" dirty="0" smtClean="0">
                <a:solidFill>
                  <a:schemeClr val="tx2"/>
                </a:solidFill>
              </a:rPr>
              <a:t> </a:t>
            </a:r>
            <a:r>
              <a:rPr lang="en-US" sz="2400" b="1" dirty="0">
                <a:solidFill>
                  <a:schemeClr val="tx2"/>
                </a:solidFill>
              </a:rPr>
              <a:t>expo start</a:t>
            </a:r>
            <a:endParaRPr lang="en-US" sz="2400" b="1" dirty="0">
              <a:solidFill>
                <a:schemeClr val="tx2"/>
              </a:solidFill>
            </a:endParaRPr>
          </a:p>
          <a:p>
            <a:pPr marL="731520" lvl="1" indent="-457200">
              <a:buFont typeface="+mj-lt"/>
              <a:buAutoNum type="arabicPeriod"/>
            </a:pPr>
            <a:r>
              <a:rPr lang="en-US" sz="2800" dirty="0" smtClean="0"/>
              <a:t>Scan </a:t>
            </a:r>
            <a:r>
              <a:rPr lang="en-US" sz="2800" dirty="0"/>
              <a:t>the QR code displayed in the terminal after running expo start.</a:t>
            </a:r>
            <a:endParaRPr lang="en-US" sz="2800" dirty="0"/>
          </a:p>
          <a:p>
            <a:pPr marL="731520" lvl="1" indent="-457200">
              <a:buFont typeface="+mj-lt"/>
              <a:buAutoNum type="arabicPeriod"/>
            </a:pPr>
            <a:r>
              <a:rPr lang="en-US" sz="2800" dirty="0"/>
              <a:t>Wait for the project to load on the phone.</a:t>
            </a:r>
            <a:endParaRPr lang="en-US" sz="2800" dirty="0"/>
          </a:p>
          <a:p>
            <a:pPr marL="731520" lvl="1" indent="-457200">
              <a:buFont typeface="+mj-lt"/>
              <a:buAutoNum type="arabicPeriod"/>
            </a:pPr>
            <a:r>
              <a:rPr lang="en-US" sz="2800" dirty="0"/>
              <a:t>Test interactivity (login, navigation</a:t>
            </a:r>
            <a:r>
              <a:rPr lang="en-US" sz="2800" dirty="0" smtClean="0"/>
              <a:t>).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2: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Run </a:t>
            </a:r>
            <a:r>
              <a:rPr lang="en-US" sz="3200" dirty="0"/>
              <a:t>the app successfully on </a:t>
            </a:r>
            <a:r>
              <a:rPr lang="en-US" sz="3200" dirty="0" smtClean="0"/>
              <a:t>android or </a:t>
            </a:r>
            <a:r>
              <a:rPr lang="en-US" sz="3200" dirty="0" err="1" smtClean="0"/>
              <a:t>ios</a:t>
            </a:r>
            <a:r>
              <a:rPr lang="en-US" sz="3200" dirty="0" smtClean="0"/>
              <a:t> mobile device</a:t>
            </a:r>
            <a:endParaRPr lang="en-US" sz="32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Observe </a:t>
            </a:r>
            <a:r>
              <a:rPr lang="en-US" sz="3200" dirty="0"/>
              <a:t>the Expo logs to confirm successful API connection.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Update </a:t>
            </a:r>
            <a:r>
              <a:rPr lang="en-US" b="1" dirty="0" smtClean="0"/>
              <a:t>Mobile UI and </a:t>
            </a:r>
            <a:r>
              <a:rPr lang="en-US" b="1" dirty="0"/>
              <a:t>Rerun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Developers </a:t>
            </a:r>
            <a:r>
              <a:rPr lang="en-US" sz="3200" dirty="0"/>
              <a:t>frequently need to update small pieces of content such as titles, labels, or colors. This section helps participants safely make and test such changes.</a:t>
            </a:r>
            <a:endParaRPr lang="en-US" sz="3200" dirty="0"/>
          </a:p>
          <a:p>
            <a:pPr marL="731520" lvl="1" indent="-457200">
              <a:buFont typeface="+mj-lt"/>
              <a:buAutoNum type="arabicPeriod"/>
            </a:pPr>
            <a:r>
              <a:rPr lang="en-US" sz="2800" dirty="0"/>
              <a:t>Open a simple screen, e.g., </a:t>
            </a:r>
            <a:r>
              <a:rPr lang="en-US" sz="2800" dirty="0" err="1" smtClean="0">
                <a:solidFill>
                  <a:schemeClr val="tx2"/>
                </a:solidFill>
              </a:rPr>
              <a:t>src</a:t>
            </a:r>
            <a:r>
              <a:rPr lang="en-US" sz="2800" dirty="0" smtClean="0">
                <a:solidFill>
                  <a:schemeClr val="tx2"/>
                </a:solidFill>
              </a:rPr>
              <a:t>/</a:t>
            </a:r>
            <a:r>
              <a:rPr lang="en-US" sz="2800" dirty="0" err="1" smtClean="0">
                <a:solidFill>
                  <a:schemeClr val="tx2"/>
                </a:solidFill>
              </a:rPr>
              <a:t>componets</a:t>
            </a:r>
            <a:r>
              <a:rPr lang="en-US" sz="2800" dirty="0" smtClean="0">
                <a:solidFill>
                  <a:schemeClr val="tx2"/>
                </a:solidFill>
              </a:rPr>
              <a:t>/home/</a:t>
            </a:r>
            <a:r>
              <a:rPr lang="en-US" sz="2800" dirty="0" err="1" smtClean="0">
                <a:solidFill>
                  <a:schemeClr val="tx2"/>
                </a:solidFill>
              </a:rPr>
              <a:t>weclome</a:t>
            </a:r>
            <a:r>
              <a:rPr lang="en-US" sz="2800" dirty="0" smtClean="0">
                <a:solidFill>
                  <a:schemeClr val="tx2"/>
                </a:solidFill>
              </a:rPr>
              <a:t>/</a:t>
            </a:r>
            <a:r>
              <a:rPr lang="en-US" sz="2800" dirty="0" err="1" smtClean="0">
                <a:solidFill>
                  <a:schemeClr val="tx2"/>
                </a:solidFill>
              </a:rPr>
              <a:t>Welcome.jsx</a:t>
            </a:r>
            <a:endParaRPr lang="en-US" sz="2800" dirty="0">
              <a:solidFill>
                <a:schemeClr val="tx2"/>
              </a:solidFill>
            </a:endParaRPr>
          </a:p>
          <a:p>
            <a:pPr marL="731520" lvl="1" indent="-457200">
              <a:buFont typeface="+mj-lt"/>
              <a:buAutoNum type="arabicPeriod"/>
            </a:pPr>
            <a:r>
              <a:rPr lang="en-US" sz="2800" dirty="0" smtClean="0"/>
              <a:t>Add new text </a:t>
            </a:r>
            <a:r>
              <a:rPr lang="en-US" sz="2800" dirty="0"/>
              <a:t>such as:</a:t>
            </a:r>
            <a:endParaRPr lang="en-US" sz="2800" dirty="0"/>
          </a:p>
          <a:p>
            <a:pPr marL="822960" lvl="3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&lt;Text</a:t>
            </a:r>
            <a:r>
              <a:rPr lang="en-US" sz="2000" b="1" dirty="0" smtClean="0">
                <a:solidFill>
                  <a:schemeClr val="tx2"/>
                </a:solidFill>
              </a:rPr>
              <a:t>&gt; Welcome to the training&lt;/Text</a:t>
            </a:r>
            <a:r>
              <a:rPr lang="en-US" sz="2000" b="1" dirty="0">
                <a:solidFill>
                  <a:schemeClr val="tx2"/>
                </a:solidFill>
              </a:rPr>
              <a:t>&gt; </a:t>
            </a:r>
            <a:endParaRPr lang="en-US" sz="2000" b="1" dirty="0">
              <a:solidFill>
                <a:schemeClr val="tx2"/>
              </a:solidFill>
            </a:endParaRPr>
          </a:p>
          <a:p>
            <a:pPr marL="731520" lvl="1" indent="-457200">
              <a:buFont typeface="+mj-lt"/>
              <a:buAutoNum type="arabicPeriod"/>
            </a:pPr>
            <a:r>
              <a:rPr lang="en-US" sz="2800" dirty="0" smtClean="0"/>
              <a:t>Save </a:t>
            </a:r>
            <a:r>
              <a:rPr lang="en-US" sz="2800" dirty="0"/>
              <a:t>the file and watch </a:t>
            </a:r>
            <a:r>
              <a:rPr lang="en-US" sz="2800" b="1" dirty="0"/>
              <a:t>Expo Hot Reload</a:t>
            </a:r>
            <a:r>
              <a:rPr lang="en-US" sz="2800" dirty="0"/>
              <a:t> refresh automatically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3: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Modify </a:t>
            </a:r>
            <a:r>
              <a:rPr lang="en-US" sz="3200" dirty="0"/>
              <a:t>the </a:t>
            </a:r>
            <a:r>
              <a:rPr lang="en-US" sz="3200" dirty="0" smtClean="0"/>
              <a:t>welcome text </a:t>
            </a:r>
            <a:r>
              <a:rPr lang="en-US" sz="3200" dirty="0"/>
              <a:t>and observe changes </a:t>
            </a:r>
            <a:r>
              <a:rPr lang="en-US" sz="3200" dirty="0" smtClean="0"/>
              <a:t>live.</a:t>
            </a:r>
            <a:endParaRPr lang="en-US" sz="32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Change </a:t>
            </a:r>
            <a:r>
              <a:rPr lang="en-US" sz="3200" dirty="0"/>
              <a:t>a </a:t>
            </a:r>
            <a:r>
              <a:rPr lang="en-US" sz="3200" dirty="0" smtClean="0"/>
              <a:t>text color and </a:t>
            </a:r>
            <a:r>
              <a:rPr lang="en-US" sz="3200" dirty="0"/>
              <a:t>rerun the app.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Creating Expo </a:t>
            </a:r>
            <a:r>
              <a:rPr lang="en-US" b="1" dirty="0" smtClean="0"/>
              <a:t>Account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Having </a:t>
            </a:r>
            <a:r>
              <a:rPr lang="en-US" sz="3200" dirty="0"/>
              <a:t>an Expo account is essential for building signed APKs and publishing projects.</a:t>
            </a:r>
            <a:endParaRPr lang="en-US" sz="3200" dirty="0"/>
          </a:p>
          <a:p>
            <a:pPr marL="731520" lvl="1" indent="-457200">
              <a:buFont typeface="+mj-lt"/>
              <a:buAutoNum type="arabicPeriod"/>
            </a:pPr>
            <a:r>
              <a:rPr lang="en-US" sz="2800" dirty="0" smtClean="0"/>
              <a:t>Go </a:t>
            </a:r>
            <a:r>
              <a:rPr lang="en-US" sz="2800" dirty="0"/>
              <a:t>to </a:t>
            </a:r>
            <a:r>
              <a:rPr lang="en-US" sz="2800" dirty="0">
                <a:hlinkClick r:id="rId1"/>
              </a:rPr>
              <a:t>https://expo.dev/signup</a:t>
            </a:r>
            <a:r>
              <a:rPr lang="en-US" sz="2800" dirty="0"/>
              <a:t>.</a:t>
            </a:r>
            <a:endParaRPr lang="en-US" sz="2800" dirty="0"/>
          </a:p>
          <a:p>
            <a:pPr marL="731520" lvl="1" indent="-457200">
              <a:buFont typeface="+mj-lt"/>
              <a:buAutoNum type="arabicPeriod"/>
            </a:pPr>
            <a:r>
              <a:rPr lang="en-US" sz="2800" dirty="0"/>
              <a:t>Create an account using email or </a:t>
            </a:r>
            <a:r>
              <a:rPr lang="en-US" sz="2800" dirty="0" err="1"/>
              <a:t>GitHub</a:t>
            </a:r>
            <a:r>
              <a:rPr lang="en-US" sz="2800" dirty="0"/>
              <a:t>.</a:t>
            </a:r>
            <a:endParaRPr lang="en-US" sz="2800" dirty="0"/>
          </a:p>
          <a:p>
            <a:pPr marL="731520" lvl="1" indent="-457200">
              <a:buFont typeface="+mj-lt"/>
              <a:buAutoNum type="arabicPeriod"/>
            </a:pPr>
            <a:r>
              <a:rPr lang="en-US" sz="2800" dirty="0"/>
              <a:t>Login via CLI:</a:t>
            </a:r>
            <a:endParaRPr lang="en-US" sz="2800" dirty="0"/>
          </a:p>
          <a:p>
            <a:pPr marL="274320" lvl="1" indent="0">
              <a:buNone/>
            </a:pPr>
            <a:r>
              <a:rPr lang="en-US" sz="2800" b="1" dirty="0" smtClean="0">
                <a:solidFill>
                  <a:schemeClr val="tx2"/>
                </a:solidFill>
              </a:rPr>
              <a:t>	expo </a:t>
            </a:r>
            <a:r>
              <a:rPr lang="en-US" sz="2800" b="1" dirty="0">
                <a:solidFill>
                  <a:schemeClr val="tx2"/>
                </a:solidFill>
              </a:rPr>
              <a:t>login </a:t>
            </a:r>
            <a:endParaRPr lang="en-US" sz="2800" b="1" dirty="0">
              <a:solidFill>
                <a:schemeClr val="tx2"/>
              </a:solidFill>
            </a:endParaRPr>
          </a:p>
          <a:p>
            <a:pPr marL="731520" lvl="1" indent="-457200">
              <a:buFont typeface="+mj-lt"/>
              <a:buAutoNum type="arabicPeriod" startAt="4"/>
            </a:pPr>
            <a:r>
              <a:rPr lang="en-US" sz="2800" dirty="0"/>
              <a:t>Verify credentials are stored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4: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Each </a:t>
            </a:r>
            <a:r>
              <a:rPr lang="en-US" sz="3200" dirty="0"/>
              <a:t>participant creates an Expo account and logs in successfully from their terminal.</a:t>
            </a:r>
            <a:endParaRPr lang="en-US" sz="3200" dirty="0"/>
          </a:p>
          <a:p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Building and Signing the </a:t>
            </a:r>
            <a:r>
              <a:rPr lang="en-US" b="1" dirty="0" smtClean="0"/>
              <a:t>APK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Once </a:t>
            </a:r>
            <a:r>
              <a:rPr lang="en-US" sz="2800" dirty="0"/>
              <a:t>your app runs correctly, the next step is building a production-ready APK that can be distributed or tested on other devices.</a:t>
            </a:r>
            <a:endParaRPr lang="en-US" sz="2800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dirty="0" smtClean="0"/>
              <a:t>Run </a:t>
            </a:r>
            <a:r>
              <a:rPr lang="en-US" sz="2400" dirty="0"/>
              <a:t>the build command:</a:t>
            </a:r>
            <a:endParaRPr lang="en-US" sz="2400" dirty="0"/>
          </a:p>
          <a:p>
            <a:pPr marL="548640" lvl="2" indent="0">
              <a:buNone/>
            </a:pPr>
            <a:r>
              <a:rPr lang="en-US" sz="2000" b="1" dirty="0" smtClean="0">
                <a:solidFill>
                  <a:schemeClr val="tx2"/>
                </a:solidFill>
              </a:rPr>
              <a:t>	</a:t>
            </a:r>
            <a:r>
              <a:rPr lang="en-US" sz="2000" b="1" dirty="0" err="1" smtClean="0">
                <a:solidFill>
                  <a:schemeClr val="tx2"/>
                </a:solidFill>
              </a:rPr>
              <a:t>eas</a:t>
            </a:r>
            <a:r>
              <a:rPr lang="en-US" sz="2000" b="1" dirty="0" smtClean="0">
                <a:solidFill>
                  <a:schemeClr val="tx2"/>
                </a:solidFill>
              </a:rPr>
              <a:t> </a:t>
            </a:r>
            <a:r>
              <a:rPr lang="en-US" sz="2000" b="1" dirty="0">
                <a:solidFill>
                  <a:schemeClr val="tx2"/>
                </a:solidFill>
              </a:rPr>
              <a:t>build -p android --profile preview </a:t>
            </a:r>
            <a:endParaRPr lang="en-US" sz="2000" b="1" dirty="0">
              <a:solidFill>
                <a:schemeClr val="tx2"/>
              </a:solidFill>
            </a:endParaRPr>
          </a:p>
          <a:p>
            <a:pPr marL="548640" lvl="2" indent="0">
              <a:buNone/>
            </a:pPr>
            <a:r>
              <a:rPr lang="en-US" sz="2000" i="1" dirty="0" smtClean="0"/>
              <a:t>	(</a:t>
            </a:r>
            <a:r>
              <a:rPr lang="en-US" sz="2000" i="1" dirty="0"/>
              <a:t>or expo </a:t>
            </a:r>
            <a:r>
              <a:rPr lang="en-US" sz="2000" i="1" dirty="0" err="1"/>
              <a:t>build:android</a:t>
            </a:r>
            <a:r>
              <a:rPr lang="en-US" sz="2000" i="1" dirty="0"/>
              <a:t> if using the classic build)</a:t>
            </a:r>
            <a:endParaRPr lang="en-US" sz="2000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Wait for the build process to finish.</a:t>
            </a:r>
            <a:endParaRPr lang="en-US" sz="2400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Download the APK link from the Expo build dashboard.</a:t>
            </a:r>
            <a:endParaRPr lang="en-US" sz="2400" dirty="0"/>
          </a:p>
          <a:p>
            <a:pPr lvl="2"/>
            <a:r>
              <a:rPr lang="en-US" sz="2000" dirty="0"/>
              <a:t>Explain </a:t>
            </a:r>
            <a:r>
              <a:rPr lang="en-US" sz="2000" b="1" dirty="0"/>
              <a:t>debug </a:t>
            </a:r>
            <a:r>
              <a:rPr lang="en-US" sz="2000" b="1" dirty="0" err="1"/>
              <a:t>vs</a:t>
            </a:r>
            <a:r>
              <a:rPr lang="en-US" sz="2000" b="1" dirty="0"/>
              <a:t> release</a:t>
            </a:r>
            <a:r>
              <a:rPr lang="en-US" sz="2000" dirty="0"/>
              <a:t> builds.</a:t>
            </a:r>
            <a:endParaRPr lang="en-US" sz="2000" dirty="0"/>
          </a:p>
          <a:p>
            <a:pPr lvl="2"/>
            <a:r>
              <a:rPr lang="en-US" sz="2000" dirty="0"/>
              <a:t>Introduce </a:t>
            </a:r>
            <a:r>
              <a:rPr lang="en-US" sz="2000" b="1" dirty="0" err="1"/>
              <a:t>keystore</a:t>
            </a:r>
            <a:r>
              <a:rPr lang="en-US" sz="2000" b="1" dirty="0"/>
              <a:t> signing</a:t>
            </a:r>
            <a:r>
              <a:rPr lang="en-US" sz="2000" dirty="0"/>
              <a:t> and how to securely store it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5: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Run </a:t>
            </a:r>
            <a:r>
              <a:rPr lang="en-US" sz="2800" dirty="0"/>
              <a:t>the build command on your local machine or follow along as the instructor </a:t>
            </a:r>
            <a:r>
              <a:rPr lang="en-US" sz="2800" dirty="0" smtClean="0"/>
              <a:t>demonstrates.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Download </a:t>
            </a:r>
            <a:r>
              <a:rPr lang="en-US" sz="2800" dirty="0"/>
              <a:t>and install the APK on your phone for </a:t>
            </a:r>
            <a:r>
              <a:rPr lang="en-US" sz="2800" dirty="0" smtClean="0"/>
              <a:t>testing.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Best Practice </a:t>
            </a:r>
            <a:r>
              <a:rPr lang="en-US" b="1" dirty="0" smtClean="0"/>
              <a:t>Tips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Keep </a:t>
            </a:r>
            <a:r>
              <a:rPr lang="en-US" sz="2800" dirty="0"/>
              <a:t>Node.js and Expo CLI updated regularly.</a:t>
            </a:r>
            <a:endParaRPr lang="en-US" sz="2800" dirty="0"/>
          </a:p>
          <a:p>
            <a:r>
              <a:rPr lang="en-US" sz="2800" dirty="0"/>
              <a:t>Avoid hardcoding credentials or URLs in your code.</a:t>
            </a:r>
            <a:endParaRPr lang="en-US" sz="2800" dirty="0"/>
          </a:p>
          <a:p>
            <a:r>
              <a:rPr lang="en-US" sz="2800" dirty="0"/>
              <a:t>Always test API connectivity before building APKs.</a:t>
            </a:r>
            <a:endParaRPr lang="en-US" sz="2800" dirty="0"/>
          </a:p>
          <a:p>
            <a:r>
              <a:rPr lang="en-US" sz="2800" dirty="0"/>
              <a:t>Document all configuration changes.</a:t>
            </a:r>
            <a:endParaRPr lang="en-US" sz="2800" dirty="0"/>
          </a:p>
          <a:p>
            <a:r>
              <a:rPr lang="en-US" sz="2800" dirty="0"/>
              <a:t>Use version control (</a:t>
            </a:r>
            <a:r>
              <a:rPr lang="en-US" sz="2800" dirty="0" err="1"/>
              <a:t>Git</a:t>
            </a:r>
            <a:r>
              <a:rPr lang="en-US" sz="2800" dirty="0"/>
              <a:t>) to track your edits and commits.</a:t>
            </a:r>
            <a:endParaRPr lang="en-US" sz="28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0" y="19786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Source </a:t>
            </a:r>
            <a:r>
              <a:rPr lang="en-US" b="1" dirty="0"/>
              <a:t>Code Management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73780"/>
            <a:ext cx="10515600" cy="2603500"/>
          </a:xfrm>
        </p:spPr>
        <p:txBody>
          <a:bodyPr>
            <a:normAutofit/>
          </a:bodyPr>
          <a:lstStyle/>
          <a:p>
            <a:r>
              <a:rPr lang="en-US" b="1" dirty="0"/>
              <a:t>Learning Objectives:</a:t>
            </a:r>
            <a:endParaRPr lang="en-US" dirty="0"/>
          </a:p>
          <a:p>
            <a:pPr lvl="1"/>
            <a:r>
              <a:rPr lang="en-US" sz="2100" dirty="0" smtClean="0"/>
              <a:t>Explain </a:t>
            </a:r>
            <a:r>
              <a:rPr lang="en-US" sz="2100" dirty="0"/>
              <a:t>the concept and importance of version control.</a:t>
            </a:r>
            <a:endParaRPr lang="en-US" sz="2100" dirty="0"/>
          </a:p>
          <a:p>
            <a:pPr lvl="1"/>
            <a:r>
              <a:rPr lang="en-US" sz="2100" dirty="0"/>
              <a:t>Initialize and manage a </a:t>
            </a:r>
            <a:r>
              <a:rPr lang="en-US" sz="2100" dirty="0" err="1"/>
              <a:t>Git</a:t>
            </a:r>
            <a:r>
              <a:rPr lang="en-US" sz="2100" dirty="0"/>
              <a:t> repository for the DLC system.</a:t>
            </a:r>
            <a:endParaRPr lang="en-US" sz="2100" dirty="0"/>
          </a:p>
          <a:p>
            <a:pPr lvl="1"/>
            <a:r>
              <a:rPr lang="en-US" sz="2100" dirty="0"/>
              <a:t>Track, commit, and revert changes using </a:t>
            </a:r>
            <a:r>
              <a:rPr lang="en-US" sz="2100" dirty="0" err="1"/>
              <a:t>Git</a:t>
            </a:r>
            <a:r>
              <a:rPr lang="en-US" sz="2100" dirty="0"/>
              <a:t> commands.</a:t>
            </a:r>
            <a:endParaRPr lang="en-US" sz="2100" dirty="0"/>
          </a:p>
          <a:p>
            <a:pPr lvl="1"/>
            <a:r>
              <a:rPr lang="en-US" sz="2100" dirty="0"/>
              <a:t>Configure and use a .</a:t>
            </a:r>
            <a:r>
              <a:rPr lang="en-US" sz="2100" dirty="0" err="1"/>
              <a:t>gitignore</a:t>
            </a:r>
            <a:r>
              <a:rPr lang="en-US" sz="2100" dirty="0"/>
              <a:t> file to exclude unnecessary files from version tracking.</a:t>
            </a:r>
            <a:endParaRPr lang="en-US" sz="2100" dirty="0"/>
          </a:p>
          <a:p>
            <a:pPr lvl="1"/>
            <a:endParaRPr lang="en-US" sz="2100" dirty="0"/>
          </a:p>
          <a:p>
            <a:pPr lvl="1"/>
            <a:endParaRPr lang="en-US" dirty="0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281354" y="570232"/>
            <a:ext cx="113035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>
                <a:sym typeface="+mn-ea"/>
              </a:rPr>
              <a:t>Session - </a:t>
            </a:r>
            <a:r>
              <a:rPr lang="en-US" altLang="en-US" b="1" dirty="0" smtClean="0">
                <a:sym typeface="+mn-ea"/>
              </a:rPr>
              <a:t>3</a:t>
            </a:r>
            <a:endParaRPr lang="en-US" alt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Version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 smtClean="0"/>
              <a:t>Version </a:t>
            </a:r>
            <a:r>
              <a:rPr lang="en-US" b="1" dirty="0"/>
              <a:t>Control Systems (VCS) </a:t>
            </a:r>
            <a:r>
              <a:rPr lang="en-US" dirty="0"/>
              <a:t>is a </a:t>
            </a:r>
            <a:r>
              <a:rPr lang="en-US" dirty="0" smtClean="0"/>
              <a:t>tool, used </a:t>
            </a:r>
            <a:r>
              <a:rPr lang="en-US" dirty="0"/>
              <a:t>in software development and collaborative </a:t>
            </a:r>
            <a:r>
              <a:rPr lang="en-US" dirty="0" smtClean="0"/>
              <a:t>projects, allow </a:t>
            </a:r>
            <a:r>
              <a:rPr lang="en-US" dirty="0"/>
              <a:t>developers </a:t>
            </a:r>
            <a:r>
              <a:rPr lang="en-US" b="1" dirty="0"/>
              <a:t>to keep track of every change</a:t>
            </a:r>
            <a:r>
              <a:rPr lang="en-US" dirty="0"/>
              <a:t>, </a:t>
            </a:r>
            <a:r>
              <a:rPr lang="en-US" b="1" dirty="0"/>
              <a:t>collaborate</a:t>
            </a:r>
            <a:r>
              <a:rPr lang="en-US" dirty="0"/>
              <a:t> efficiently, and </a:t>
            </a:r>
            <a:r>
              <a:rPr lang="en-US" b="1" dirty="0"/>
              <a:t>restore older versions </a:t>
            </a:r>
            <a:r>
              <a:rPr lang="en-US" dirty="0"/>
              <a:t>of code when needed.</a:t>
            </a:r>
            <a:endParaRPr lang="en-US" dirty="0"/>
          </a:p>
          <a:p>
            <a:pPr lvl="1" fontAlgn="base"/>
            <a:r>
              <a:rPr lang="en-US" sz="2400" dirty="0" smtClean="0"/>
              <a:t>It </a:t>
            </a:r>
            <a:r>
              <a:rPr lang="en-US" sz="2400" dirty="0"/>
              <a:t>allows developers to:</a:t>
            </a:r>
            <a:endParaRPr lang="en-US" sz="2400" dirty="0"/>
          </a:p>
          <a:p>
            <a:pPr lvl="2" fontAlgn="base"/>
            <a:r>
              <a:rPr lang="en-US" sz="2000" dirty="0"/>
              <a:t>Record and track every update to the codebase</a:t>
            </a:r>
            <a:endParaRPr lang="en-US" sz="2000" dirty="0"/>
          </a:p>
          <a:p>
            <a:pPr lvl="2" fontAlgn="base"/>
            <a:r>
              <a:rPr lang="en-US" sz="2000" dirty="0"/>
              <a:t>Collaborate on code without overwriting each other's work</a:t>
            </a:r>
            <a:endParaRPr lang="en-US" sz="2000" dirty="0"/>
          </a:p>
          <a:p>
            <a:pPr lvl="2" fontAlgn="base"/>
            <a:r>
              <a:rPr lang="en-US" sz="2000" dirty="0"/>
              <a:t>Revert to earlier states of the project if needed</a:t>
            </a:r>
            <a:endParaRPr lang="en-US" sz="2000" dirty="0"/>
          </a:p>
          <a:p>
            <a:pPr lvl="2" fontAlgn="base"/>
            <a:r>
              <a:rPr lang="en-US" sz="2000" dirty="0"/>
              <a:t>Maintain a detailed and structured history of the project’s </a:t>
            </a:r>
            <a:r>
              <a:rPr lang="en-US" sz="2000" dirty="0" smtClean="0"/>
              <a:t>evolution</a:t>
            </a:r>
            <a:endParaRPr lang="en-US" sz="2000" dirty="0" smtClean="0"/>
          </a:p>
          <a:p>
            <a:pPr lvl="1" fontAlgn="base"/>
            <a:r>
              <a:rPr lang="en-US" sz="2200" b="1" dirty="0" smtClean="0"/>
              <a:t>Types of Version Control Systems</a:t>
            </a:r>
            <a:endParaRPr lang="en-US" sz="2200" b="1" dirty="0" smtClean="0"/>
          </a:p>
          <a:p>
            <a:pPr marL="891540" lvl="2" indent="-342900" fontAlgn="base">
              <a:buFont typeface="+mj-lt"/>
              <a:buAutoNum type="arabicPeriod"/>
            </a:pPr>
            <a:r>
              <a:rPr lang="en-US" b="1" dirty="0" smtClean="0"/>
              <a:t>Local</a:t>
            </a:r>
            <a:r>
              <a:rPr lang="en-US" dirty="0" smtClean="0"/>
              <a:t> version control systems</a:t>
            </a:r>
            <a:endParaRPr lang="en-US" dirty="0" smtClean="0"/>
          </a:p>
          <a:p>
            <a:pPr marL="891540" lvl="2" indent="-342900" fontAlgn="base">
              <a:buFont typeface="+mj-lt"/>
              <a:buAutoNum type="arabicPeriod"/>
            </a:pPr>
            <a:r>
              <a:rPr lang="en-US" b="1" dirty="0" smtClean="0"/>
              <a:t>Centralized</a:t>
            </a:r>
            <a:r>
              <a:rPr lang="en-US" dirty="0" smtClean="0"/>
              <a:t> version control systems</a:t>
            </a:r>
            <a:endParaRPr lang="en-US" dirty="0" smtClean="0"/>
          </a:p>
          <a:p>
            <a:pPr marL="891540" lvl="2" indent="-342900" fontAlgn="base">
              <a:buFont typeface="+mj-lt"/>
              <a:buAutoNum type="arabicPeriod"/>
            </a:pPr>
            <a:r>
              <a:rPr lang="en-US" b="1" dirty="0" smtClean="0">
                <a:solidFill>
                  <a:schemeClr val="tx2"/>
                </a:solidFill>
              </a:rPr>
              <a:t>Distributed</a:t>
            </a:r>
            <a:r>
              <a:rPr lang="en-US" dirty="0" smtClean="0">
                <a:solidFill>
                  <a:schemeClr val="tx2"/>
                </a:solidFill>
              </a:rPr>
              <a:t> version control systems</a:t>
            </a:r>
            <a:endParaRPr lang="en-US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800" b="1" dirty="0"/>
              <a:t>Popular Version Control Systems</a:t>
            </a:r>
            <a:endParaRPr lang="en-US" sz="2800" b="1" dirty="0"/>
          </a:p>
          <a:p>
            <a:pPr lvl="1" fontAlgn="base"/>
            <a:r>
              <a:rPr lang="en-US" sz="2400" dirty="0"/>
              <a:t>Below are five most widely used free VCS tools, perfect for individuals and teams. </a:t>
            </a:r>
            <a:endParaRPr lang="en-US" sz="2400" dirty="0" smtClean="0"/>
          </a:p>
          <a:p>
            <a:pPr lvl="1" fontAlgn="base"/>
            <a:r>
              <a:rPr lang="en-US" sz="2400" dirty="0" smtClean="0"/>
              <a:t>Each </a:t>
            </a:r>
            <a:r>
              <a:rPr lang="en-US" sz="2400" dirty="0"/>
              <a:t>of these version control systems serves different needs, and the choice depends on the project size, team collaboration style and workflow preferences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916" y="3841506"/>
            <a:ext cx="7267575" cy="282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Git</a:t>
            </a:r>
            <a:r>
              <a:rPr lang="en-US" b="1" dirty="0" smtClean="0"/>
              <a:t> - Overview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err="1"/>
              <a:t>Git</a:t>
            </a:r>
            <a:r>
              <a:rPr lang="en-US" sz="2800" dirty="0"/>
              <a:t> is the most widely used </a:t>
            </a:r>
            <a:r>
              <a:rPr lang="en-US" sz="2800" b="1" dirty="0"/>
              <a:t>Distributed Version Control System</a:t>
            </a:r>
            <a:r>
              <a:rPr lang="en-US" sz="2800" dirty="0"/>
              <a:t>, developed by Linus Torvalds in 2005 for managing the Linux kernel. </a:t>
            </a:r>
            <a:endParaRPr lang="en-US" sz="2800" dirty="0" smtClean="0"/>
          </a:p>
          <a:p>
            <a:pPr lvl="1"/>
            <a:r>
              <a:rPr lang="en-US" sz="2400" dirty="0" smtClean="0"/>
              <a:t>It </a:t>
            </a:r>
            <a:r>
              <a:rPr lang="en-US" sz="2400" dirty="0"/>
              <a:t>is highly efficient, supports branching and merging, and has a fast, decentralized workflow. </a:t>
            </a:r>
            <a:endParaRPr lang="en-US" sz="2400" dirty="0" smtClean="0"/>
          </a:p>
          <a:p>
            <a:pPr lvl="1"/>
            <a:r>
              <a:rPr lang="en-US" sz="2400" dirty="0" smtClean="0"/>
              <a:t>It </a:t>
            </a:r>
            <a:r>
              <a:rPr lang="en-US" sz="2400" dirty="0"/>
              <a:t>is the backbone of services like </a:t>
            </a:r>
            <a:r>
              <a:rPr lang="en-US" sz="2400" dirty="0" err="1"/>
              <a:t>GitHub</a:t>
            </a:r>
            <a:r>
              <a:rPr lang="en-US" sz="2400" dirty="0"/>
              <a:t>, </a:t>
            </a:r>
            <a:r>
              <a:rPr lang="en-US" sz="2400" dirty="0" err="1"/>
              <a:t>GitLab</a:t>
            </a:r>
            <a:r>
              <a:rPr lang="en-US" sz="2400" dirty="0"/>
              <a:t> and </a:t>
            </a:r>
            <a:r>
              <a:rPr lang="en-US" sz="2400" dirty="0" err="1"/>
              <a:t>Bitbucket</a:t>
            </a:r>
            <a:r>
              <a:rPr lang="en-US" sz="2400" dirty="0"/>
              <a:t>, making it a popular choice for developers worldwide.</a:t>
            </a:r>
            <a:endParaRPr lang="en-US" sz="2400" dirty="0"/>
          </a:p>
          <a:p>
            <a:pPr lvl="1"/>
            <a:r>
              <a:rPr lang="en-US" sz="2400" b="1" dirty="0" smtClean="0"/>
              <a:t>Key </a:t>
            </a:r>
            <a:r>
              <a:rPr lang="en-US" sz="2400" b="1" dirty="0"/>
              <a:t>Features of </a:t>
            </a:r>
            <a:r>
              <a:rPr lang="en-US" sz="2400" b="1" dirty="0" err="1"/>
              <a:t>Git</a:t>
            </a:r>
            <a:endParaRPr lang="en-US" sz="2400" b="1" dirty="0"/>
          </a:p>
          <a:p>
            <a:pPr lvl="2"/>
            <a:r>
              <a:rPr lang="en-US" sz="2000" dirty="0"/>
              <a:t>Lightweight, fast and efficient.</a:t>
            </a:r>
            <a:endParaRPr lang="en-US" sz="2000" dirty="0"/>
          </a:p>
          <a:p>
            <a:pPr lvl="2"/>
            <a:r>
              <a:rPr lang="en-US" sz="2000" dirty="0"/>
              <a:t>Branching and merging are simple and non-destructive.</a:t>
            </a:r>
            <a:endParaRPr lang="en-US" sz="2000" dirty="0"/>
          </a:p>
          <a:p>
            <a:pPr lvl="2"/>
            <a:r>
              <a:rPr lang="en-US" sz="2000" dirty="0"/>
              <a:t>Provides powerful commands like </a:t>
            </a:r>
            <a:r>
              <a:rPr lang="en-US" sz="2000" dirty="0" err="1"/>
              <a:t>git</a:t>
            </a:r>
            <a:r>
              <a:rPr lang="en-US" sz="2000" dirty="0"/>
              <a:t> clone, </a:t>
            </a:r>
            <a:r>
              <a:rPr lang="en-US" sz="2000" dirty="0" err="1"/>
              <a:t>git</a:t>
            </a:r>
            <a:r>
              <a:rPr lang="en-US" sz="2000" dirty="0"/>
              <a:t> pull and </a:t>
            </a:r>
            <a:r>
              <a:rPr lang="en-US" sz="2000" dirty="0" err="1"/>
              <a:t>git</a:t>
            </a:r>
            <a:r>
              <a:rPr lang="en-US" sz="2000" dirty="0"/>
              <a:t> push.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Installing and Configuring </a:t>
            </a:r>
            <a:r>
              <a:rPr lang="en-US" b="1" dirty="0" err="1"/>
              <a:t>Git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Before using </a:t>
            </a:r>
            <a:r>
              <a:rPr lang="en-US" sz="2800" dirty="0" err="1"/>
              <a:t>Git</a:t>
            </a:r>
            <a:r>
              <a:rPr lang="en-US" sz="2800" dirty="0"/>
              <a:t>, we must ensure it’s properly installed and configured with the developer’s identity.</a:t>
            </a:r>
            <a:endParaRPr lang="en-US" sz="2800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dirty="0" smtClean="0"/>
              <a:t>Download the latest </a:t>
            </a:r>
            <a:r>
              <a:rPr lang="en-US" sz="2400" dirty="0" err="1" smtClean="0"/>
              <a:t>Git</a:t>
            </a:r>
            <a:r>
              <a:rPr lang="en-US" sz="2400" dirty="0" smtClean="0"/>
              <a:t> and Install</a:t>
            </a:r>
            <a:endParaRPr lang="en-US" sz="2400" dirty="0" smtClean="0"/>
          </a:p>
          <a:p>
            <a:pPr lvl="2"/>
            <a:r>
              <a:rPr lang="en-US" sz="2000" dirty="0">
                <a:hlinkClick r:id="rId1"/>
              </a:rPr>
              <a:t>https://git-scm.com/install</a:t>
            </a:r>
            <a:r>
              <a:rPr lang="en-US" sz="2000" dirty="0" smtClean="0">
                <a:hlinkClick r:id="rId1"/>
              </a:rPr>
              <a:t>/</a:t>
            </a:r>
            <a:r>
              <a:rPr lang="en-US" sz="2000" dirty="0" smtClean="0"/>
              <a:t> </a:t>
            </a:r>
            <a:endParaRPr lang="en-US" sz="2000" dirty="0" smtClean="0"/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 smtClean="0"/>
              <a:t>Check </a:t>
            </a:r>
            <a:r>
              <a:rPr lang="en-US" sz="2400" b="1" dirty="0"/>
              <a:t>installation:</a:t>
            </a:r>
            <a:endParaRPr lang="en-US" sz="2400" dirty="0"/>
          </a:p>
          <a:p>
            <a:pPr lvl="2"/>
            <a:r>
              <a:rPr lang="en-US" sz="2000" dirty="0" err="1"/>
              <a:t>git</a:t>
            </a:r>
            <a:r>
              <a:rPr lang="en-US" sz="2000" dirty="0"/>
              <a:t> --version </a:t>
            </a:r>
            <a:endParaRPr lang="en-US" sz="2000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/>
              <a:t>Configure user information:</a:t>
            </a:r>
            <a:endParaRPr lang="en-US" sz="2400" dirty="0"/>
          </a:p>
          <a:p>
            <a:pPr lvl="2"/>
            <a:r>
              <a:rPr lang="en-US" sz="2000" dirty="0" err="1"/>
              <a:t>git</a:t>
            </a:r>
            <a:r>
              <a:rPr lang="en-US" sz="2000" dirty="0"/>
              <a:t> </a:t>
            </a:r>
            <a:r>
              <a:rPr lang="en-US" sz="2000" dirty="0" err="1"/>
              <a:t>config</a:t>
            </a:r>
            <a:r>
              <a:rPr lang="en-US" sz="2000" dirty="0"/>
              <a:t> --global user.name "Your Name" </a:t>
            </a:r>
            <a:r>
              <a:rPr lang="en-US" sz="2000" dirty="0" err="1"/>
              <a:t>git</a:t>
            </a:r>
            <a:r>
              <a:rPr lang="en-US" sz="2000" dirty="0"/>
              <a:t> </a:t>
            </a:r>
            <a:r>
              <a:rPr lang="en-US" sz="2000" dirty="0" err="1"/>
              <a:t>config</a:t>
            </a:r>
            <a:r>
              <a:rPr lang="en-US" sz="2000" dirty="0"/>
              <a:t> --global </a:t>
            </a:r>
            <a:r>
              <a:rPr lang="en-US" sz="2000" dirty="0" err="1"/>
              <a:t>user.email</a:t>
            </a:r>
            <a:r>
              <a:rPr lang="en-US" sz="2000" dirty="0"/>
              <a:t> "you@example.com" </a:t>
            </a:r>
            <a:endParaRPr lang="en-US" sz="2000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/>
              <a:t>Verify setup:</a:t>
            </a:r>
            <a:endParaRPr lang="en-US" sz="2400" dirty="0"/>
          </a:p>
          <a:p>
            <a:pPr lvl="2"/>
            <a:r>
              <a:rPr lang="en-US" sz="2000" dirty="0" err="1"/>
              <a:t>git</a:t>
            </a:r>
            <a:r>
              <a:rPr lang="en-US" sz="2000" dirty="0"/>
              <a:t> </a:t>
            </a:r>
            <a:r>
              <a:rPr lang="en-US" sz="2000" dirty="0" err="1"/>
              <a:t>config</a:t>
            </a:r>
            <a:r>
              <a:rPr lang="en-US" sz="2000" dirty="0"/>
              <a:t> --list</a:t>
            </a:r>
            <a:endParaRPr lang="en-US" sz="20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Setting Up a </a:t>
            </a:r>
            <a:r>
              <a:rPr lang="en-US" b="1" dirty="0" err="1"/>
              <a:t>Git</a:t>
            </a:r>
            <a:r>
              <a:rPr lang="en-US" b="1" dirty="0"/>
              <a:t> Repository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A </a:t>
            </a:r>
            <a:r>
              <a:rPr lang="en-US" sz="2800" dirty="0" err="1"/>
              <a:t>Git</a:t>
            </a:r>
            <a:r>
              <a:rPr lang="en-US" sz="2800" dirty="0"/>
              <a:t> repository tracks every change made to a project’s files.</a:t>
            </a:r>
            <a:br>
              <a:rPr lang="en-US" sz="2800" dirty="0"/>
            </a:br>
            <a:r>
              <a:rPr lang="en-US" sz="2800" dirty="0"/>
              <a:t>We’ll initialize one for the DLC system and make the first commit</a:t>
            </a:r>
            <a:r>
              <a:rPr lang="en-US" sz="2800" dirty="0" smtClean="0"/>
              <a:t>.</a:t>
            </a:r>
            <a:endParaRPr lang="en-US" sz="2800" dirty="0" smtClean="0"/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/>
              <a:t>Navigate to the project folder</a:t>
            </a:r>
            <a:r>
              <a:rPr lang="en-US" sz="2400" dirty="0"/>
              <a:t>:</a:t>
            </a:r>
            <a:endParaRPr lang="en-US" sz="2400" dirty="0"/>
          </a:p>
          <a:p>
            <a:pPr lvl="2"/>
            <a:r>
              <a:rPr lang="en-US" sz="2000" dirty="0"/>
              <a:t>cd </a:t>
            </a:r>
            <a:r>
              <a:rPr lang="en-US" sz="2000" dirty="0" smtClean="0"/>
              <a:t>project-name </a:t>
            </a:r>
            <a:endParaRPr lang="en-US" sz="2000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/>
              <a:t>Initialize </a:t>
            </a:r>
            <a:r>
              <a:rPr lang="en-US" sz="2400" b="1" dirty="0" err="1"/>
              <a:t>Git</a:t>
            </a:r>
            <a:r>
              <a:rPr lang="en-US" sz="2400" b="1" dirty="0"/>
              <a:t>:</a:t>
            </a:r>
            <a:endParaRPr lang="en-US" sz="2400" b="1" dirty="0"/>
          </a:p>
          <a:p>
            <a:pPr lvl="2"/>
            <a:r>
              <a:rPr lang="en-US" sz="2000" dirty="0" err="1"/>
              <a:t>git</a:t>
            </a:r>
            <a:r>
              <a:rPr lang="en-US" sz="2000" dirty="0"/>
              <a:t> </a:t>
            </a:r>
            <a:r>
              <a:rPr lang="en-US" sz="2000" dirty="0" err="1"/>
              <a:t>init</a:t>
            </a:r>
            <a:r>
              <a:rPr lang="en-US" sz="2000" dirty="0"/>
              <a:t> </a:t>
            </a:r>
            <a:endParaRPr lang="en-US" sz="2000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/>
              <a:t>Add files to staging:</a:t>
            </a:r>
            <a:endParaRPr lang="en-US" sz="2400" b="1" dirty="0"/>
          </a:p>
          <a:p>
            <a:pPr lvl="2"/>
            <a:r>
              <a:rPr lang="en-US" sz="2000" dirty="0" err="1"/>
              <a:t>git</a:t>
            </a:r>
            <a:r>
              <a:rPr lang="en-US" sz="2000" dirty="0"/>
              <a:t> add . </a:t>
            </a:r>
            <a:endParaRPr lang="en-US" sz="2000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/>
              <a:t>Commit with a message:</a:t>
            </a:r>
            <a:endParaRPr lang="en-US" sz="2400" b="1" dirty="0"/>
          </a:p>
          <a:p>
            <a:pPr lvl="2"/>
            <a:r>
              <a:rPr lang="en-US" sz="2000" dirty="0" err="1"/>
              <a:t>git</a:t>
            </a:r>
            <a:r>
              <a:rPr lang="en-US" sz="2000" dirty="0"/>
              <a:t> commit -m "Initial project setup" </a:t>
            </a:r>
            <a:endParaRPr lang="en-US" sz="2000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/>
              <a:t>View history:</a:t>
            </a:r>
            <a:endParaRPr lang="en-US" sz="2400" b="1" dirty="0"/>
          </a:p>
          <a:p>
            <a:pPr lvl="2"/>
            <a:r>
              <a:rPr lang="en-US" sz="2000" dirty="0" err="1"/>
              <a:t>git</a:t>
            </a:r>
            <a:r>
              <a:rPr lang="en-US" sz="2000" dirty="0"/>
              <a:t> log --</a:t>
            </a:r>
            <a:r>
              <a:rPr lang="en-US" sz="2000" dirty="0" err="1"/>
              <a:t>oneline</a:t>
            </a:r>
            <a:endParaRPr lang="en-US" sz="2000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1: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Initialize </a:t>
            </a:r>
            <a:r>
              <a:rPr lang="en-US" sz="3200" dirty="0"/>
              <a:t>a </a:t>
            </a:r>
            <a:r>
              <a:rPr lang="en-US" sz="3200" dirty="0" err="1"/>
              <a:t>Git</a:t>
            </a:r>
            <a:r>
              <a:rPr lang="en-US" sz="3200" dirty="0"/>
              <a:t> repository in your project </a:t>
            </a:r>
            <a:r>
              <a:rPr lang="en-US" sz="3200" dirty="0" smtClean="0"/>
              <a:t>folder.</a:t>
            </a:r>
            <a:endParaRPr lang="en-US" sz="32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Add </a:t>
            </a:r>
            <a:r>
              <a:rPr lang="en-US" sz="3200" dirty="0"/>
              <a:t>and commit the current project </a:t>
            </a:r>
            <a:r>
              <a:rPr lang="en-US" sz="3200" dirty="0" smtClean="0"/>
              <a:t>version.</a:t>
            </a:r>
            <a:endParaRPr lang="en-US" sz="32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Run </a:t>
            </a:r>
            <a:r>
              <a:rPr lang="en-US" sz="3200" dirty="0" err="1"/>
              <a:t>git</a:t>
            </a:r>
            <a:r>
              <a:rPr lang="en-US" sz="3200" dirty="0"/>
              <a:t> log and share your latest commit message.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Managing Changes and History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Git</a:t>
            </a:r>
            <a:r>
              <a:rPr lang="en-US" sz="2800" dirty="0"/>
              <a:t> lets developers track changes and manage versions efficiently. </a:t>
            </a:r>
            <a:endParaRPr lang="en-US" sz="2800" dirty="0" smtClean="0"/>
          </a:p>
          <a:p>
            <a:r>
              <a:rPr lang="en-US" sz="2800" dirty="0" smtClean="0"/>
              <a:t>This </a:t>
            </a:r>
            <a:r>
              <a:rPr lang="en-US" sz="2800" dirty="0"/>
              <a:t>helps detect bugs, test new features, or revert unwanted edits.</a:t>
            </a:r>
            <a:endParaRPr lang="en-US" sz="2800" dirty="0"/>
          </a:p>
          <a:p>
            <a:pPr lvl="1"/>
            <a:r>
              <a:rPr lang="en-US" sz="2400" b="1" dirty="0" smtClean="0"/>
              <a:t>Tracking </a:t>
            </a:r>
            <a:r>
              <a:rPr lang="en-US" sz="2400" b="1" dirty="0"/>
              <a:t>changes </a:t>
            </a:r>
            <a:r>
              <a:rPr lang="en-US" sz="2400" dirty="0"/>
              <a:t>(</a:t>
            </a:r>
            <a:r>
              <a:rPr lang="en-US" sz="2400" dirty="0" err="1"/>
              <a:t>git</a:t>
            </a:r>
            <a:r>
              <a:rPr lang="en-US" sz="2400" dirty="0"/>
              <a:t> status, </a:t>
            </a:r>
            <a:r>
              <a:rPr lang="en-US" sz="2400" dirty="0" err="1"/>
              <a:t>git</a:t>
            </a:r>
            <a:r>
              <a:rPr lang="en-US" sz="2400" dirty="0"/>
              <a:t> diff)</a:t>
            </a:r>
            <a:endParaRPr lang="en-US" sz="2400" dirty="0"/>
          </a:p>
          <a:p>
            <a:pPr lvl="1"/>
            <a:r>
              <a:rPr lang="en-US" sz="2400" b="1" dirty="0"/>
              <a:t>Committing updates</a:t>
            </a:r>
            <a:endParaRPr lang="en-US" sz="2400" b="1" dirty="0"/>
          </a:p>
          <a:p>
            <a:pPr lvl="1"/>
            <a:r>
              <a:rPr lang="en-US" sz="2400" b="1" dirty="0"/>
              <a:t>Viewing commit history</a:t>
            </a:r>
            <a:endParaRPr lang="en-US" sz="2400" b="1" dirty="0"/>
          </a:p>
          <a:p>
            <a:pPr lvl="1"/>
            <a:r>
              <a:rPr lang="en-US" sz="2400" b="1" dirty="0"/>
              <a:t>Undoing unwanted edits</a:t>
            </a:r>
            <a:r>
              <a:rPr lang="en-US" sz="2400" dirty="0"/>
              <a:t> (</a:t>
            </a:r>
            <a:r>
              <a:rPr lang="en-US" sz="2400" dirty="0" err="1"/>
              <a:t>git</a:t>
            </a:r>
            <a:r>
              <a:rPr lang="en-US" sz="2400" dirty="0"/>
              <a:t> checkout -- filename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2: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Modify </a:t>
            </a:r>
            <a:r>
              <a:rPr lang="en-US" sz="3200" dirty="0"/>
              <a:t>a small file (e.g., README.md) and commit the </a:t>
            </a:r>
            <a:r>
              <a:rPr lang="en-US" sz="3200" dirty="0" smtClean="0"/>
              <a:t>update.</a:t>
            </a:r>
            <a:endParaRPr lang="en-US" sz="32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Use </a:t>
            </a:r>
            <a:r>
              <a:rPr lang="en-US" sz="3200" dirty="0" err="1"/>
              <a:t>git</a:t>
            </a:r>
            <a:r>
              <a:rPr lang="en-US" sz="3200" dirty="0"/>
              <a:t> diff to see what changed before </a:t>
            </a:r>
            <a:r>
              <a:rPr lang="en-US" sz="3200" dirty="0" smtClean="0"/>
              <a:t>committing.</a:t>
            </a:r>
            <a:endParaRPr lang="en-US" sz="32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Revert </a:t>
            </a:r>
            <a:r>
              <a:rPr lang="en-US" sz="3200" dirty="0"/>
              <a:t>a file to a previous version and verify.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Managing .</a:t>
            </a:r>
            <a:r>
              <a:rPr lang="en-US" b="1" dirty="0" err="1"/>
              <a:t>gitignore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Some files should never be tracked (e.g., environment variables, dependencies, build folders</a:t>
            </a:r>
            <a:r>
              <a:rPr lang="en-US" sz="2800" dirty="0" smtClean="0"/>
              <a:t>).</a:t>
            </a:r>
            <a:endParaRPr lang="en-US" sz="2800" dirty="0" smtClean="0"/>
          </a:p>
          <a:p>
            <a:pPr lvl="1"/>
            <a:r>
              <a:rPr lang="en-US" sz="2400" b="1" dirty="0" smtClean="0"/>
              <a:t>.</a:t>
            </a:r>
            <a:r>
              <a:rPr lang="en-US" sz="2400" b="1" dirty="0" err="1"/>
              <a:t>gitignore</a:t>
            </a:r>
            <a:r>
              <a:rPr lang="en-US" sz="2400" b="1" dirty="0"/>
              <a:t> ensures such files are excluded automatically.</a:t>
            </a:r>
            <a:endParaRPr lang="en-US" sz="2400" b="1" dirty="0"/>
          </a:p>
          <a:p>
            <a:r>
              <a:rPr lang="en-US" b="1" dirty="0" smtClean="0"/>
              <a:t>Managing .</a:t>
            </a:r>
            <a:r>
              <a:rPr lang="en-US" b="1" dirty="0" err="1" smtClean="0"/>
              <a:t>gitignore</a:t>
            </a:r>
            <a:r>
              <a:rPr lang="en-US" b="1" dirty="0" smtClean="0"/>
              <a:t> file:</a:t>
            </a:r>
            <a:endParaRPr lang="en-US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Create .</a:t>
            </a:r>
            <a:r>
              <a:rPr lang="en-US" sz="2400" dirty="0" err="1"/>
              <a:t>gitignore</a:t>
            </a:r>
            <a:r>
              <a:rPr lang="en-US" sz="2400" dirty="0"/>
              <a:t> file.</a:t>
            </a:r>
            <a:endParaRPr lang="en-US" sz="2400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Add entries like:</a:t>
            </a:r>
            <a:endParaRPr lang="en-US" sz="2400" dirty="0"/>
          </a:p>
          <a:p>
            <a:pPr lvl="2"/>
            <a:r>
              <a:rPr lang="en-US" sz="2200" dirty="0" err="1"/>
              <a:t>node_modules</a:t>
            </a:r>
            <a:r>
              <a:rPr lang="en-US" sz="2200" dirty="0"/>
              <a:t>/ </a:t>
            </a:r>
            <a:endParaRPr lang="en-US" sz="2200" dirty="0" smtClean="0"/>
          </a:p>
          <a:p>
            <a:pPr lvl="2"/>
            <a:r>
              <a:rPr lang="en-US" sz="2200" dirty="0" smtClean="0"/>
              <a:t>.</a:t>
            </a:r>
            <a:r>
              <a:rPr lang="en-US" sz="2200" dirty="0"/>
              <a:t>expo/ </a:t>
            </a:r>
            <a:endParaRPr lang="en-US" sz="2200" dirty="0" smtClean="0"/>
          </a:p>
          <a:p>
            <a:pPr lvl="2"/>
            <a:r>
              <a:rPr lang="en-US" sz="2200" dirty="0" smtClean="0"/>
              <a:t>.</a:t>
            </a:r>
            <a:r>
              <a:rPr lang="en-US" sz="2200" dirty="0" err="1"/>
              <a:t>env</a:t>
            </a:r>
            <a:r>
              <a:rPr lang="en-US" sz="2200" dirty="0"/>
              <a:t> </a:t>
            </a:r>
            <a:endParaRPr lang="en-US" sz="2200" dirty="0" smtClean="0"/>
          </a:p>
          <a:p>
            <a:pPr lvl="2"/>
            <a:r>
              <a:rPr lang="en-US" sz="2200" dirty="0" smtClean="0"/>
              <a:t>.</a:t>
            </a:r>
            <a:r>
              <a:rPr lang="en-US" sz="2200" dirty="0" err="1"/>
              <a:t>vscode</a:t>
            </a:r>
            <a:r>
              <a:rPr lang="en-US" sz="2200" dirty="0"/>
              <a:t>/ </a:t>
            </a:r>
            <a:endParaRPr lang="en-US" sz="2200" dirty="0" smtClean="0"/>
          </a:p>
          <a:p>
            <a:pPr lvl="2"/>
            <a:r>
              <a:rPr lang="en-US" sz="2200" dirty="0" smtClean="0"/>
              <a:t>build</a:t>
            </a:r>
            <a:r>
              <a:rPr lang="en-US" sz="2200" dirty="0"/>
              <a:t>/ </a:t>
            </a:r>
            <a:endParaRPr lang="en-US" sz="2200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Check with </a:t>
            </a:r>
            <a:r>
              <a:rPr lang="en-US" sz="2400" dirty="0" err="1"/>
              <a:t>git</a:t>
            </a:r>
            <a:r>
              <a:rPr lang="en-US" sz="2400" dirty="0"/>
              <a:t> status to confirm they are ignored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Exercise 3: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Create </a:t>
            </a:r>
            <a:r>
              <a:rPr lang="en-US" sz="3200" dirty="0"/>
              <a:t>a .</a:t>
            </a:r>
            <a:r>
              <a:rPr lang="en-US" sz="3200" dirty="0" err="1"/>
              <a:t>gitignore</a:t>
            </a:r>
            <a:r>
              <a:rPr lang="en-US" sz="3200" dirty="0"/>
              <a:t> file in your project.</a:t>
            </a:r>
            <a:endParaRPr lang="en-US" sz="3200" dirty="0"/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Add at least three file/folder names to exclude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0" y="19786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Source Code Collaboration and Wrap-up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73780"/>
            <a:ext cx="10515600" cy="26035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Learning Objectives:</a:t>
            </a:r>
            <a:endParaRPr lang="en-US" dirty="0"/>
          </a:p>
          <a:p>
            <a:pPr lvl="1"/>
            <a:r>
              <a:rPr lang="en-US" sz="2100" dirty="0" smtClean="0"/>
              <a:t>Explain </a:t>
            </a:r>
            <a:r>
              <a:rPr lang="en-US" sz="2100" dirty="0"/>
              <a:t>the importance of collaborative version control.</a:t>
            </a:r>
            <a:endParaRPr lang="en-US" sz="2100" dirty="0"/>
          </a:p>
          <a:p>
            <a:pPr lvl="1"/>
            <a:r>
              <a:rPr lang="en-US" sz="2100" dirty="0"/>
              <a:t>Create and configure a </a:t>
            </a:r>
            <a:r>
              <a:rPr lang="en-US" sz="2100" dirty="0" err="1"/>
              <a:t>GitHub</a:t>
            </a:r>
            <a:r>
              <a:rPr lang="en-US" sz="2100" dirty="0"/>
              <a:t> account.</a:t>
            </a:r>
            <a:endParaRPr lang="en-US" sz="2100" dirty="0"/>
          </a:p>
          <a:p>
            <a:pPr lvl="1"/>
            <a:r>
              <a:rPr lang="en-US" sz="2100" dirty="0"/>
              <a:t>Connect local repositories to remote ones.</a:t>
            </a:r>
            <a:endParaRPr lang="en-US" sz="2100" dirty="0"/>
          </a:p>
          <a:p>
            <a:pPr lvl="1"/>
            <a:r>
              <a:rPr lang="en-US" sz="2100" dirty="0"/>
              <a:t>Perform push, pull, and synchronization operations.</a:t>
            </a:r>
            <a:endParaRPr lang="en-US" sz="2100" dirty="0"/>
          </a:p>
          <a:p>
            <a:pPr lvl="1"/>
            <a:r>
              <a:rPr lang="en-US" sz="2100" dirty="0"/>
              <a:t>Apply best practices and understand common challenges in team-based source code management.</a:t>
            </a:r>
            <a:endParaRPr lang="en-US" sz="2100" dirty="0"/>
          </a:p>
          <a:p>
            <a:pPr lvl="1"/>
            <a:r>
              <a:rPr lang="en-US" sz="2100" dirty="0"/>
              <a:t>Reflect on the entire day’s learning outcomes</a:t>
            </a:r>
            <a:r>
              <a:rPr lang="en-US" sz="2100" dirty="0" smtClean="0"/>
              <a:t>.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281354" y="570232"/>
            <a:ext cx="113035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>
                <a:sym typeface="+mn-ea"/>
              </a:rPr>
              <a:t>Session - 4</a:t>
            </a:r>
            <a:endParaRPr lang="en-US" alt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Collaborative Development Overview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</a:t>
            </a:r>
            <a:r>
              <a:rPr lang="en-US" dirty="0"/>
              <a:t>teams work together on a project, </a:t>
            </a:r>
            <a:r>
              <a:rPr lang="en-US" dirty="0" err="1"/>
              <a:t>GitHub</a:t>
            </a:r>
            <a:r>
              <a:rPr lang="en-US" dirty="0"/>
              <a:t> (or </a:t>
            </a:r>
            <a:r>
              <a:rPr lang="en-US" dirty="0" err="1"/>
              <a:t>GitLab</a:t>
            </a:r>
            <a:r>
              <a:rPr lang="en-US" dirty="0"/>
              <a:t>/</a:t>
            </a:r>
            <a:r>
              <a:rPr lang="en-US" dirty="0" err="1"/>
              <a:t>Bitbucket</a:t>
            </a:r>
            <a:r>
              <a:rPr lang="en-US" dirty="0"/>
              <a:t>) acts as a central code-sharing platform.</a:t>
            </a:r>
            <a:br>
              <a:rPr lang="en-US" dirty="0"/>
            </a:br>
            <a:r>
              <a:rPr lang="en-US" dirty="0" smtClean="0"/>
              <a:t>It </a:t>
            </a:r>
            <a:r>
              <a:rPr lang="en-US" dirty="0"/>
              <a:t>allows collaboration, review, and version tracking from anywhere.</a:t>
            </a:r>
            <a:endParaRPr lang="en-US" dirty="0"/>
          </a:p>
          <a:p>
            <a:r>
              <a:rPr lang="en-US" b="1" dirty="0"/>
              <a:t>Concepts to Cover:</a:t>
            </a:r>
            <a:endParaRPr lang="en-US" dirty="0"/>
          </a:p>
          <a:p>
            <a:pPr lvl="1"/>
            <a:r>
              <a:rPr lang="en-US" dirty="0"/>
              <a:t>Local </a:t>
            </a:r>
            <a:r>
              <a:rPr lang="en-US" dirty="0" err="1"/>
              <a:t>vs</a:t>
            </a:r>
            <a:r>
              <a:rPr lang="en-US" dirty="0"/>
              <a:t> Remote repositories</a:t>
            </a:r>
            <a:endParaRPr lang="en-US" dirty="0"/>
          </a:p>
          <a:p>
            <a:pPr lvl="1"/>
            <a:r>
              <a:rPr lang="en-US" dirty="0"/>
              <a:t>Branching and merging overview</a:t>
            </a:r>
            <a:endParaRPr lang="en-US" dirty="0"/>
          </a:p>
          <a:p>
            <a:pPr lvl="1"/>
            <a:r>
              <a:rPr lang="en-US" dirty="0"/>
              <a:t>Benefits of using </a:t>
            </a:r>
            <a:r>
              <a:rPr lang="en-US" dirty="0" err="1"/>
              <a:t>GitHub</a:t>
            </a:r>
            <a:r>
              <a:rPr lang="en-US" dirty="0"/>
              <a:t> (backup, team collaboration, project visibility)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Local </a:t>
            </a:r>
            <a:r>
              <a:rPr lang="en-US" b="1" dirty="0" err="1"/>
              <a:t>vs</a:t>
            </a:r>
            <a:r>
              <a:rPr lang="en-US" b="1" dirty="0"/>
              <a:t> Remote </a:t>
            </a:r>
            <a:r>
              <a:rPr lang="en-US" b="1" dirty="0" smtClean="0"/>
              <a:t>Repositories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1600200"/>
          <a:ext cx="10972800" cy="428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Type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Example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Local Repository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Stored on your computer; where you do commits and history tracking.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Your folder: </a:t>
                      </a:r>
                      <a:r>
                        <a:rPr lang="en-US" sz="1600">
                          <a:effectLst/>
                          <a:latin typeface="Courier New"/>
                          <a:ea typeface="Times New Roman"/>
                          <a:cs typeface="Times New Roman"/>
                        </a:rPr>
                        <a:t>/dlc-mobile/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Remote Repository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Stored on a server (like GitHub) to enable collaboration.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GitHub</a:t>
                      </a:r>
                      <a:r>
                        <a:rPr lang="en-US" sz="24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GitLab</a:t>
                      </a:r>
                      <a:r>
                        <a:rPr lang="en-US" sz="24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Bitbucket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Sync Process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You push changes from local → remote, and pull updates from remote → local.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urier New"/>
                          <a:ea typeface="Times New Roman"/>
                          <a:cs typeface="Times New Roman"/>
                        </a:rPr>
                        <a:t>git</a:t>
                      </a:r>
                      <a:r>
                        <a:rPr lang="en-US" sz="1600" dirty="0">
                          <a:effectLst/>
                          <a:latin typeface="Courier New"/>
                          <a:ea typeface="Times New Roman"/>
                          <a:cs typeface="Times New Roman"/>
                        </a:rPr>
                        <a:t> push</a:t>
                      </a:r>
                      <a:r>
                        <a:rPr lang="en-US" sz="24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/ </a:t>
                      </a:r>
                      <a:r>
                        <a:rPr lang="en-US" sz="1600" dirty="0" err="1">
                          <a:effectLst/>
                          <a:latin typeface="Courier New"/>
                          <a:ea typeface="Times New Roman"/>
                          <a:cs typeface="Times New Roman"/>
                        </a:rPr>
                        <a:t>git</a:t>
                      </a:r>
                      <a:r>
                        <a:rPr lang="en-US" sz="1600" dirty="0">
                          <a:effectLst/>
                          <a:latin typeface="Courier New"/>
                          <a:ea typeface="Times New Roman"/>
                          <a:cs typeface="Times New Roman"/>
                        </a:rPr>
                        <a:t> pull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Branching and Merging Overview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Branching </a:t>
            </a:r>
            <a:r>
              <a:rPr lang="en-US" dirty="0"/>
              <a:t>is one of the most powerful features in </a:t>
            </a:r>
            <a:r>
              <a:rPr lang="en-US" dirty="0" err="1"/>
              <a:t>Git</a:t>
            </a:r>
            <a:r>
              <a:rPr lang="en-US" dirty="0"/>
              <a:t>. It allows developers to create separate lines of development without affecting the main codebase.</a:t>
            </a:r>
            <a:endParaRPr lang="en-US" dirty="0"/>
          </a:p>
          <a:p>
            <a:pPr lvl="1"/>
            <a:r>
              <a:rPr lang="en-US" dirty="0" smtClean="0"/>
              <a:t>A </a:t>
            </a:r>
            <a:r>
              <a:rPr lang="en-US" b="1" dirty="0"/>
              <a:t>branch</a:t>
            </a:r>
            <a:r>
              <a:rPr lang="en-US" dirty="0"/>
              <a:t> represents an independent line of development.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b="1" dirty="0"/>
              <a:t>main (or master)</a:t>
            </a:r>
            <a:r>
              <a:rPr lang="en-US" dirty="0"/>
              <a:t> branch is the default.</a:t>
            </a:r>
            <a:endParaRPr lang="en-US" dirty="0"/>
          </a:p>
          <a:p>
            <a:pPr lvl="1"/>
            <a:r>
              <a:rPr lang="en-US" dirty="0"/>
              <a:t>You can create new branches to:</a:t>
            </a:r>
            <a:endParaRPr lang="en-US" dirty="0"/>
          </a:p>
          <a:p>
            <a:pPr lvl="2"/>
            <a:r>
              <a:rPr lang="en-US" dirty="0"/>
              <a:t>Develop new features</a:t>
            </a:r>
            <a:endParaRPr lang="en-US" dirty="0"/>
          </a:p>
          <a:p>
            <a:pPr lvl="2"/>
            <a:r>
              <a:rPr lang="en-US" dirty="0"/>
              <a:t>Fix bugs</a:t>
            </a:r>
            <a:endParaRPr lang="en-US" dirty="0"/>
          </a:p>
          <a:p>
            <a:pPr lvl="2"/>
            <a:r>
              <a:rPr lang="en-US" dirty="0"/>
              <a:t>Experiment </a:t>
            </a:r>
            <a:r>
              <a:rPr lang="en-US" dirty="0" smtClean="0"/>
              <a:t>safely</a:t>
            </a:r>
            <a:endParaRPr lang="en-US" dirty="0" smtClean="0"/>
          </a:p>
          <a:p>
            <a:pPr marL="548640" lvl="2" indent="0">
              <a:buNone/>
            </a:pPr>
            <a:endParaRPr lang="en-US" dirty="0" smtClean="0"/>
          </a:p>
          <a:p>
            <a:pPr marL="548640" lvl="2" indent="0">
              <a:buNone/>
            </a:pPr>
            <a:endParaRPr lang="en-US" dirty="0"/>
          </a:p>
          <a:p>
            <a:r>
              <a:rPr lang="en-US" dirty="0"/>
              <a:t>Once your work in a branch is complete, you can merge it back into the main branch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r>
              <a:rPr lang="en-US" b="1" dirty="0"/>
              <a:t>Merging</a:t>
            </a:r>
            <a:r>
              <a:rPr lang="en-US" dirty="0"/>
              <a:t> combines changes from one branch into another.</a:t>
            </a:r>
            <a:endParaRPr lang="en-US" dirty="0"/>
          </a:p>
          <a:p>
            <a:pPr lvl="1"/>
            <a:r>
              <a:rPr lang="en-US" dirty="0"/>
              <a:t>Common merge tools: </a:t>
            </a:r>
            <a:r>
              <a:rPr lang="en-US" dirty="0" err="1"/>
              <a:t>Git</a:t>
            </a:r>
            <a:r>
              <a:rPr lang="en-US" dirty="0"/>
              <a:t> CLI, VS Code, </a:t>
            </a:r>
            <a:r>
              <a:rPr lang="en-US" dirty="0" err="1"/>
              <a:t>GitHub</a:t>
            </a:r>
            <a:r>
              <a:rPr lang="en-US" dirty="0"/>
              <a:t> pull </a:t>
            </a:r>
            <a:r>
              <a:rPr lang="en-US" dirty="0" smtClean="0"/>
              <a:t>requests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pic>
        <p:nvPicPr>
          <p:cNvPr id="6" name="Picture 2" descr="What Is a Version Control System &amp; Do You Need One?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8" t="18097" r="5093" b="18354"/>
          <a:stretch>
            <a:fillRect/>
          </a:stretch>
        </p:blipFill>
        <p:spPr bwMode="auto">
          <a:xfrm>
            <a:off x="6251589" y="2930771"/>
            <a:ext cx="5794745" cy="2044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Benefits of Using </a:t>
            </a:r>
            <a:r>
              <a:rPr lang="en-US" b="1" dirty="0" err="1" smtClean="0"/>
              <a:t>GitHub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What </a:t>
            </a:r>
            <a:r>
              <a:rPr lang="en-US" sz="2800" b="1" dirty="0"/>
              <a:t>is </a:t>
            </a:r>
            <a:r>
              <a:rPr lang="en-US" sz="2800" b="1" dirty="0" err="1"/>
              <a:t>GitHub</a:t>
            </a:r>
            <a:r>
              <a:rPr lang="en-US" sz="2800" b="1" dirty="0"/>
              <a:t>?</a:t>
            </a:r>
            <a:endParaRPr lang="en-US" sz="2800" b="1" dirty="0"/>
          </a:p>
          <a:p>
            <a:pPr lvl="1"/>
            <a:r>
              <a:rPr lang="en-US" sz="2400" dirty="0" err="1" smtClean="0"/>
              <a:t>GitHub</a:t>
            </a:r>
            <a:r>
              <a:rPr lang="en-US" sz="2400" dirty="0" smtClean="0"/>
              <a:t> </a:t>
            </a:r>
            <a:r>
              <a:rPr lang="en-US" sz="2400" dirty="0"/>
              <a:t>is a cloud-based platform that provides hosting for </a:t>
            </a:r>
            <a:r>
              <a:rPr lang="en-US" sz="2400" dirty="0" err="1"/>
              <a:t>Git</a:t>
            </a:r>
            <a:r>
              <a:rPr lang="en-US" sz="2400" dirty="0"/>
              <a:t> repositories and tools for collaborative software development.</a:t>
            </a:r>
            <a:endParaRPr lang="en-US" sz="2400" dirty="0"/>
          </a:p>
          <a:p>
            <a:r>
              <a:rPr lang="en-US" sz="2800" b="1" dirty="0" smtClean="0"/>
              <a:t>Key </a:t>
            </a:r>
            <a:r>
              <a:rPr lang="en-US" sz="2800" b="1" dirty="0"/>
              <a:t>Benefits of Using </a:t>
            </a:r>
            <a:r>
              <a:rPr lang="en-US" sz="2800" b="1" dirty="0" err="1"/>
              <a:t>GitHub</a:t>
            </a:r>
            <a:endParaRPr lang="en-US" sz="2800" b="1" dirty="0"/>
          </a:p>
          <a:p>
            <a:pPr lvl="1"/>
            <a:r>
              <a:rPr lang="en-US" sz="2400" b="1" dirty="0" smtClean="0"/>
              <a:t>Collaboration</a:t>
            </a:r>
            <a:r>
              <a:rPr lang="en-US" sz="2400" b="1" dirty="0"/>
              <a:t>:</a:t>
            </a:r>
            <a:r>
              <a:rPr lang="en-US" sz="2400" dirty="0"/>
              <a:t> Multiple users can work on the same project easily.</a:t>
            </a:r>
            <a:endParaRPr lang="en-US" sz="2400" dirty="0"/>
          </a:p>
          <a:p>
            <a:pPr lvl="1"/>
            <a:r>
              <a:rPr lang="en-US" sz="2400" b="1" dirty="0" smtClean="0"/>
              <a:t>Backup </a:t>
            </a:r>
            <a:r>
              <a:rPr lang="en-US" sz="2400" b="1" dirty="0"/>
              <a:t>and Accessibility:</a:t>
            </a:r>
            <a:r>
              <a:rPr lang="en-US" sz="2400" dirty="0"/>
              <a:t> Code is securely stored in the cloud.</a:t>
            </a:r>
            <a:endParaRPr lang="en-US" sz="2400" dirty="0"/>
          </a:p>
          <a:p>
            <a:pPr lvl="1"/>
            <a:r>
              <a:rPr lang="en-US" sz="2400" b="1" dirty="0" smtClean="0"/>
              <a:t>Integration</a:t>
            </a:r>
            <a:r>
              <a:rPr lang="en-US" sz="2400" b="1" dirty="0"/>
              <a:t>:</a:t>
            </a:r>
            <a:r>
              <a:rPr lang="en-US" sz="2400" dirty="0"/>
              <a:t> Works with tools like VS Code, Slack, and CI/CD pipelines.</a:t>
            </a:r>
            <a:endParaRPr lang="en-US" sz="2400" dirty="0"/>
          </a:p>
          <a:p>
            <a:pPr lvl="1"/>
            <a:r>
              <a:rPr lang="en-US" sz="2400" b="1" dirty="0" smtClean="0"/>
              <a:t>Transparency</a:t>
            </a:r>
            <a:r>
              <a:rPr lang="en-US" sz="2400" b="1" dirty="0"/>
              <a:t>:</a:t>
            </a:r>
            <a:r>
              <a:rPr lang="en-US" sz="2400" dirty="0"/>
              <a:t> Tracks changes, authors, and project </a:t>
            </a:r>
            <a:r>
              <a:rPr lang="en-US" sz="2400" dirty="0" smtClean="0"/>
              <a:t>history.</a:t>
            </a:r>
            <a:endParaRPr lang="en-US" sz="2400" dirty="0" smtClean="0"/>
          </a:p>
          <a:p>
            <a:pPr lvl="1"/>
            <a:r>
              <a:rPr lang="en-US" sz="2400" b="1" dirty="0" smtClean="0"/>
              <a:t>Open </a:t>
            </a:r>
            <a:r>
              <a:rPr lang="en-US" sz="2400" b="1" dirty="0"/>
              <a:t>Source Community:</a:t>
            </a:r>
            <a:r>
              <a:rPr lang="en-US" sz="2400" dirty="0"/>
              <a:t> Contribute and learn from millions of projects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Creating a </a:t>
            </a:r>
            <a:r>
              <a:rPr lang="en-US" b="1" dirty="0" err="1"/>
              <a:t>GitHub</a:t>
            </a:r>
            <a:r>
              <a:rPr lang="en-US" b="1" dirty="0"/>
              <a:t> Account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</a:t>
            </a:r>
            <a:r>
              <a:rPr lang="en-US" dirty="0"/>
              <a:t>participant will create a personal </a:t>
            </a:r>
            <a:r>
              <a:rPr lang="en-US" dirty="0" err="1"/>
              <a:t>GitHub</a:t>
            </a:r>
            <a:r>
              <a:rPr lang="en-US" dirty="0"/>
              <a:t> account to store and share project code.</a:t>
            </a:r>
            <a:endParaRPr lang="en-US" dirty="0"/>
          </a:p>
          <a:p>
            <a:pPr lvl="1"/>
            <a:r>
              <a:rPr lang="en-US" b="1" dirty="0"/>
              <a:t>Steps:</a:t>
            </a:r>
            <a:endParaRPr lang="en-US" dirty="0"/>
          </a:p>
          <a:p>
            <a:pPr marL="891540" lvl="2" indent="-342900">
              <a:buFont typeface="+mj-lt"/>
              <a:buAutoNum type="arabicPeriod"/>
            </a:pPr>
            <a:r>
              <a:rPr lang="en-US" dirty="0"/>
              <a:t>Visit </a:t>
            </a:r>
            <a:r>
              <a:rPr lang="en-US" dirty="0">
                <a:hlinkClick r:id="rId1"/>
              </a:rPr>
              <a:t>https://github.com</a:t>
            </a:r>
            <a:endParaRPr lang="en-US" dirty="0"/>
          </a:p>
          <a:p>
            <a:pPr marL="891540" lvl="2" indent="-342900">
              <a:buFont typeface="+mj-lt"/>
              <a:buAutoNum type="arabicPeriod"/>
            </a:pPr>
            <a:r>
              <a:rPr lang="en-US" dirty="0"/>
              <a:t>Sign up and verify email.</a:t>
            </a:r>
            <a:endParaRPr lang="en-US" dirty="0"/>
          </a:p>
          <a:p>
            <a:pPr marL="891540" lvl="2" indent="-342900">
              <a:buFont typeface="+mj-lt"/>
              <a:buAutoNum type="arabicPeriod"/>
            </a:pPr>
            <a:r>
              <a:rPr lang="en-US" dirty="0"/>
              <a:t>Configure profile and create a new repository named </a:t>
            </a:r>
            <a:r>
              <a:rPr lang="en-US" dirty="0" err="1"/>
              <a:t>dlc</a:t>
            </a:r>
            <a:r>
              <a:rPr lang="en-US" dirty="0"/>
              <a:t>-mobile.</a:t>
            </a:r>
            <a:endParaRPr lang="en-US" dirty="0"/>
          </a:p>
          <a:p>
            <a:pPr marL="891540" lvl="2" indent="-342900">
              <a:buFont typeface="+mj-lt"/>
              <a:buAutoNum type="arabicPeriod"/>
            </a:pPr>
            <a:r>
              <a:rPr lang="en-US" dirty="0"/>
              <a:t>Copy repository URL for connection.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1: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Create </a:t>
            </a:r>
            <a:r>
              <a:rPr lang="en-US" sz="3200" dirty="0"/>
              <a:t>your </a:t>
            </a:r>
            <a:r>
              <a:rPr lang="en-US" sz="3200" dirty="0" err="1"/>
              <a:t>GitHub</a:t>
            </a:r>
            <a:r>
              <a:rPr lang="en-US" sz="3200" dirty="0"/>
              <a:t> account and repository named after your project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Pushing and Pulling </a:t>
            </a:r>
            <a:r>
              <a:rPr lang="en-US" b="1" dirty="0" smtClean="0"/>
              <a:t>Projects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Once </a:t>
            </a:r>
            <a:r>
              <a:rPr lang="en-US" sz="2800" dirty="0"/>
              <a:t>a remote repository is ready, you can link it to your local </a:t>
            </a:r>
            <a:r>
              <a:rPr lang="en-US" sz="2800" dirty="0" err="1"/>
              <a:t>Git</a:t>
            </a:r>
            <a:r>
              <a:rPr lang="en-US" sz="2800" dirty="0"/>
              <a:t> project to push and pull changes.</a:t>
            </a:r>
            <a:endParaRPr lang="en-US" sz="2800" dirty="0"/>
          </a:p>
          <a:p>
            <a:pPr lvl="1"/>
            <a:r>
              <a:rPr lang="en-US" sz="2400" b="1" dirty="0"/>
              <a:t>Steps:</a:t>
            </a:r>
            <a:endParaRPr lang="en-US" sz="2400" dirty="0"/>
          </a:p>
          <a:p>
            <a:pPr marL="891540" lvl="2" indent="-342900">
              <a:buFont typeface="+mj-lt"/>
              <a:buAutoNum type="arabicPeriod"/>
            </a:pPr>
            <a:r>
              <a:rPr lang="en-US" sz="2000" b="1" dirty="0"/>
              <a:t>Link to </a:t>
            </a:r>
            <a:r>
              <a:rPr lang="en-US" sz="2000" b="1" dirty="0" err="1"/>
              <a:t>GitHub</a:t>
            </a:r>
            <a:r>
              <a:rPr lang="en-US" sz="2000" b="1" dirty="0"/>
              <a:t>:</a:t>
            </a:r>
            <a:endParaRPr lang="en-US" sz="2000" b="1" dirty="0"/>
          </a:p>
          <a:p>
            <a:pPr lvl="3"/>
            <a:r>
              <a:rPr lang="en-US" sz="1800" dirty="0" err="1"/>
              <a:t>git</a:t>
            </a:r>
            <a:r>
              <a:rPr lang="en-US" sz="1800" dirty="0"/>
              <a:t> remote add origin https://github.com/username/dlc-mobile.git </a:t>
            </a:r>
            <a:endParaRPr lang="en-US" sz="1800" dirty="0"/>
          </a:p>
          <a:p>
            <a:pPr marL="891540" lvl="2" indent="-342900">
              <a:buFont typeface="+mj-lt"/>
              <a:buAutoNum type="arabicPeriod"/>
            </a:pPr>
            <a:r>
              <a:rPr lang="en-US" sz="2000" b="1" dirty="0"/>
              <a:t>Push local changes:</a:t>
            </a:r>
            <a:endParaRPr lang="en-US" sz="2000" b="1" dirty="0"/>
          </a:p>
          <a:p>
            <a:pPr lvl="3"/>
            <a:r>
              <a:rPr lang="en-US" sz="1800" dirty="0" err="1"/>
              <a:t>git</a:t>
            </a:r>
            <a:r>
              <a:rPr lang="en-US" sz="1800" dirty="0"/>
              <a:t> push -u origin main </a:t>
            </a:r>
            <a:endParaRPr lang="en-US" sz="1800" dirty="0"/>
          </a:p>
          <a:p>
            <a:pPr marL="891540" lvl="2" indent="-342900">
              <a:buFont typeface="+mj-lt"/>
              <a:buAutoNum type="arabicPeriod"/>
            </a:pPr>
            <a:r>
              <a:rPr lang="en-US" sz="2000" b="1" dirty="0"/>
              <a:t>Pull updates:</a:t>
            </a:r>
            <a:endParaRPr lang="en-US" sz="2000" b="1" dirty="0"/>
          </a:p>
          <a:p>
            <a:pPr lvl="3"/>
            <a:r>
              <a:rPr lang="en-US" sz="1800" dirty="0" err="1"/>
              <a:t>git</a:t>
            </a:r>
            <a:r>
              <a:rPr lang="en-US" sz="1800" dirty="0"/>
              <a:t> pull </a:t>
            </a:r>
            <a:endParaRPr lang="en-US" sz="1800" dirty="0"/>
          </a:p>
          <a:p>
            <a:pPr marL="891540" lvl="2" indent="-342900">
              <a:buFont typeface="+mj-lt"/>
              <a:buAutoNum type="arabicPeriod"/>
            </a:pPr>
            <a:r>
              <a:rPr lang="en-US" sz="2000" b="1" dirty="0"/>
              <a:t>Common commands:</a:t>
            </a:r>
            <a:endParaRPr lang="en-US" sz="2000" b="1" dirty="0"/>
          </a:p>
          <a:p>
            <a:pPr lvl="3"/>
            <a:r>
              <a:rPr lang="en-US" sz="1800" dirty="0" err="1"/>
              <a:t>git</a:t>
            </a:r>
            <a:r>
              <a:rPr lang="en-US" sz="1800" dirty="0"/>
              <a:t> fetch – retrieve updates without merging</a:t>
            </a:r>
            <a:endParaRPr lang="en-US" sz="1800" dirty="0"/>
          </a:p>
          <a:p>
            <a:pPr lvl="3"/>
            <a:r>
              <a:rPr lang="en-US" sz="1800" dirty="0" err="1"/>
              <a:t>git</a:t>
            </a:r>
            <a:r>
              <a:rPr lang="en-US" sz="1800" dirty="0"/>
              <a:t> merge – integrate fetched changes</a:t>
            </a:r>
            <a:endParaRPr lang="en-US" sz="18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Exercise 2: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Connect </a:t>
            </a:r>
            <a:r>
              <a:rPr lang="en-US" sz="3200" dirty="0"/>
              <a:t>your local </a:t>
            </a:r>
            <a:r>
              <a:rPr lang="en-US" sz="3200" dirty="0" err="1"/>
              <a:t>Git</a:t>
            </a:r>
            <a:r>
              <a:rPr lang="en-US" sz="3200" dirty="0"/>
              <a:t> repository to your </a:t>
            </a:r>
            <a:r>
              <a:rPr lang="en-US" sz="3200" dirty="0" err="1"/>
              <a:t>GitHub</a:t>
            </a:r>
            <a:r>
              <a:rPr lang="en-US" sz="3200" dirty="0"/>
              <a:t> repository.</a:t>
            </a:r>
            <a:endParaRPr lang="en-US" sz="3200" dirty="0"/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Push your latest project version.</a:t>
            </a:r>
            <a:endParaRPr lang="en-US" sz="3200" dirty="0"/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Pull the project from </a:t>
            </a:r>
            <a:r>
              <a:rPr lang="en-US" sz="3200" dirty="0" err="1"/>
              <a:t>GitHub</a:t>
            </a:r>
            <a:r>
              <a:rPr lang="en-US" sz="3200" dirty="0"/>
              <a:t> into a new folder to confirm success.</a:t>
            </a:r>
            <a:endParaRPr lang="en-US" sz="32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Best Practices, Common Challenges, and Solutions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Using </a:t>
            </a:r>
            <a:r>
              <a:rPr lang="en-US" sz="2800" dirty="0" err="1"/>
              <a:t>Git</a:t>
            </a:r>
            <a:r>
              <a:rPr lang="en-US" sz="2800" dirty="0"/>
              <a:t> effectively requires consistent habits and awareness of common pitfalls.</a:t>
            </a:r>
            <a:endParaRPr lang="en-US" sz="2800" dirty="0"/>
          </a:p>
          <a:p>
            <a:pPr lvl="1"/>
            <a:r>
              <a:rPr lang="en-US" sz="2400" b="1" dirty="0"/>
              <a:t>Best Practices:</a:t>
            </a:r>
            <a:endParaRPr lang="en-US" sz="2400" dirty="0"/>
          </a:p>
          <a:p>
            <a:pPr lvl="2"/>
            <a:r>
              <a:rPr lang="en-US" sz="2000" dirty="0"/>
              <a:t>Commit small, meaningful changes.</a:t>
            </a:r>
            <a:endParaRPr lang="en-US" sz="2000" dirty="0"/>
          </a:p>
          <a:p>
            <a:pPr lvl="2"/>
            <a:r>
              <a:rPr lang="en-US" sz="2000" dirty="0"/>
              <a:t>Always pull before push.</a:t>
            </a:r>
            <a:endParaRPr lang="en-US" sz="2000" dirty="0"/>
          </a:p>
          <a:p>
            <a:pPr lvl="2"/>
            <a:r>
              <a:rPr lang="en-US" sz="2000" dirty="0"/>
              <a:t>Use clear commit messages.</a:t>
            </a:r>
            <a:endParaRPr lang="en-US" sz="2000" dirty="0"/>
          </a:p>
          <a:p>
            <a:pPr lvl="2"/>
            <a:r>
              <a:rPr lang="en-US" sz="2000" dirty="0"/>
              <a:t>Keep .</a:t>
            </a:r>
            <a:r>
              <a:rPr lang="en-US" sz="2000" dirty="0" err="1"/>
              <a:t>env</a:t>
            </a:r>
            <a:r>
              <a:rPr lang="en-US" sz="2000" dirty="0"/>
              <a:t> files and secrets local.</a:t>
            </a:r>
            <a:endParaRPr lang="en-US" sz="2000" dirty="0"/>
          </a:p>
          <a:p>
            <a:pPr lvl="2"/>
            <a:r>
              <a:rPr lang="en-US" sz="2000" dirty="0"/>
              <a:t>Regularly back up and sync work.</a:t>
            </a:r>
            <a:endParaRPr lang="en-US" sz="20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b="1" dirty="0"/>
              <a:t>Common </a:t>
            </a:r>
            <a:r>
              <a:rPr lang="en-US" sz="2400" b="1" dirty="0" smtClean="0"/>
              <a:t>Challenges and Solutions:</a:t>
            </a:r>
            <a:endParaRPr lang="en-US" sz="2400" b="1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05167" y="2384343"/>
          <a:ext cx="9995878" cy="2548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9540"/>
                <a:gridCol w="6166338"/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Challenge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Solution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Merge conflicts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Communicate and use </a:t>
                      </a:r>
                      <a:r>
                        <a:rPr lang="en-US" sz="1800">
                          <a:effectLst/>
                          <a:latin typeface="Courier New"/>
                          <a:ea typeface="Times New Roman"/>
                          <a:cs typeface="Times New Roman"/>
                        </a:rPr>
                        <a:t>git merge</a:t>
                      </a:r>
                      <a:r>
                        <a:rPr lang="en-US" sz="2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carefully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Lost commits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Use </a:t>
                      </a:r>
                      <a:r>
                        <a:rPr lang="en-US" sz="1800">
                          <a:effectLst/>
                          <a:latin typeface="Courier New"/>
                          <a:ea typeface="Times New Roman"/>
                          <a:cs typeface="Times New Roman"/>
                        </a:rPr>
                        <a:t>git reflog</a:t>
                      </a:r>
                      <a:r>
                        <a:rPr lang="en-US" sz="2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to recover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Wrong file committed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Use </a:t>
                      </a:r>
                      <a:r>
                        <a:rPr lang="en-US" sz="1800">
                          <a:effectLst/>
                          <a:latin typeface="Courier New"/>
                          <a:ea typeface="Times New Roman"/>
                          <a:cs typeface="Times New Roman"/>
                        </a:rPr>
                        <a:t>.gitignore</a:t>
                      </a:r>
                      <a:r>
                        <a:rPr lang="en-US" sz="2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properly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Authentication issues</a:t>
                      </a:r>
                      <a:endParaRPr lang="en-US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Use SSH or Personal Access Tokens</a:t>
                      </a:r>
                      <a:endParaRPr lang="en-US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Q&amp;A and Reflection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 </a:t>
            </a:r>
            <a:r>
              <a:rPr lang="en-US" sz="2800" dirty="0"/>
              <a:t>reflection session helps participants consolidate what they learned and plan how to apply </a:t>
            </a:r>
            <a:r>
              <a:rPr lang="en-US" sz="2800" dirty="0" err="1"/>
              <a:t>Git</a:t>
            </a:r>
            <a:r>
              <a:rPr lang="en-US" sz="2800" dirty="0"/>
              <a:t> and </a:t>
            </a:r>
            <a:r>
              <a:rPr lang="en-US" sz="2800" dirty="0" err="1"/>
              <a:t>GitHub</a:t>
            </a:r>
            <a:r>
              <a:rPr lang="en-US" sz="2800" dirty="0"/>
              <a:t> in real projects.</a:t>
            </a:r>
            <a:endParaRPr lang="en-US" sz="2800" dirty="0"/>
          </a:p>
          <a:p>
            <a:r>
              <a:rPr lang="en-US" sz="2800" b="1" dirty="0"/>
              <a:t>Reflection Prompts:</a:t>
            </a:r>
            <a:endParaRPr lang="en-US" sz="2800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What did you find most useful about </a:t>
            </a:r>
            <a:r>
              <a:rPr lang="en-US" sz="2400" dirty="0" err="1"/>
              <a:t>Git</a:t>
            </a:r>
            <a:r>
              <a:rPr lang="en-US" sz="2400" dirty="0"/>
              <a:t> and </a:t>
            </a:r>
            <a:r>
              <a:rPr lang="en-US" sz="2400" dirty="0" err="1"/>
              <a:t>GitHub</a:t>
            </a:r>
            <a:r>
              <a:rPr lang="en-US" sz="2400" dirty="0"/>
              <a:t>?</a:t>
            </a:r>
            <a:endParaRPr lang="en-US" sz="2400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What challenges did you face?</a:t>
            </a:r>
            <a:endParaRPr lang="en-US" sz="2400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How will you integrate version control into your future workflow?</a:t>
            </a:r>
            <a:endParaRPr lang="en-US" sz="2400" dirty="0"/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6626" name="Picture 2" descr="Thank You Letter Danger: 5 Things You Should Never Include!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0</TotalTime>
  <Words>14959</Words>
  <Application>WPS Presentation</Application>
  <PresentationFormat>Custom</PresentationFormat>
  <Paragraphs>615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9" baseType="lpstr">
      <vt:lpstr>Arial</vt:lpstr>
      <vt:lpstr>SimSun</vt:lpstr>
      <vt:lpstr>Wingdings</vt:lpstr>
      <vt:lpstr>Calibri</vt:lpstr>
      <vt:lpstr>Sitka Text Semibold</vt:lpstr>
      <vt:lpstr>Times New Roman</vt:lpstr>
      <vt:lpstr>Calibri</vt:lpstr>
      <vt:lpstr>Courier New</vt:lpstr>
      <vt:lpstr>DejaVu Sans</vt:lpstr>
      <vt:lpstr>URW Bookman</vt:lpstr>
      <vt:lpstr>微软雅黑</vt:lpstr>
      <vt:lpstr>Droid Sans Fallback</vt:lpstr>
      <vt:lpstr>Arial Unicode MS</vt:lpstr>
      <vt:lpstr>Clarity</vt:lpstr>
      <vt:lpstr>PowerPoint 演示文稿</vt:lpstr>
      <vt:lpstr>Mobile App Overview and Demonstration </vt:lpstr>
      <vt:lpstr>Understanding React Native and Expo</vt:lpstr>
      <vt:lpstr>PowerPoint 演示文稿</vt:lpstr>
      <vt:lpstr>Demonstration of Major Features</vt:lpstr>
      <vt:lpstr>Exercise 1:</vt:lpstr>
      <vt:lpstr>Understanding React Native Expo App Structure</vt:lpstr>
      <vt:lpstr>PowerPoint 演示文稿</vt:lpstr>
      <vt:lpstr>Exercise 2:</vt:lpstr>
      <vt:lpstr>Environmental Setup and Managing Mobile App Code</vt:lpstr>
      <vt:lpstr>Environment Setup</vt:lpstr>
      <vt:lpstr>Exercise 1:</vt:lpstr>
      <vt:lpstr>Installing Expo Go on Mobile &amp; Running the App</vt:lpstr>
      <vt:lpstr>Exercise 2:</vt:lpstr>
      <vt:lpstr>Update Mobile UI and Rerun</vt:lpstr>
      <vt:lpstr>Exercise 3:</vt:lpstr>
      <vt:lpstr>Creating Expo Account</vt:lpstr>
      <vt:lpstr>Exercise 4:</vt:lpstr>
      <vt:lpstr>Building and Signing the APK</vt:lpstr>
      <vt:lpstr>Exercise 5:</vt:lpstr>
      <vt:lpstr>Best Practice Tips</vt:lpstr>
      <vt:lpstr>Source Code Management</vt:lpstr>
      <vt:lpstr>Introduction to Version Control</vt:lpstr>
      <vt:lpstr>PowerPoint 演示文稿</vt:lpstr>
      <vt:lpstr>Git - Overview</vt:lpstr>
      <vt:lpstr>Installing and Configuring Git</vt:lpstr>
      <vt:lpstr>Setting Up a Git Repository</vt:lpstr>
      <vt:lpstr>Exercise 1:</vt:lpstr>
      <vt:lpstr>Managing Changes and History</vt:lpstr>
      <vt:lpstr>Exercise 2:</vt:lpstr>
      <vt:lpstr>Managing .gitignore</vt:lpstr>
      <vt:lpstr>Exercise 3:</vt:lpstr>
      <vt:lpstr>Source Code Collaboration and Wrap-up</vt:lpstr>
      <vt:lpstr>Collaborative Development Overview </vt:lpstr>
      <vt:lpstr>Local vs Remote Repositories</vt:lpstr>
      <vt:lpstr>Branching and Merging Overview</vt:lpstr>
      <vt:lpstr>Benefits of Using GitHub</vt:lpstr>
      <vt:lpstr>Creating a GitHub Account </vt:lpstr>
      <vt:lpstr>Exercise 1:</vt:lpstr>
      <vt:lpstr>Pushing and Pulling Projects</vt:lpstr>
      <vt:lpstr>Exercise 2:</vt:lpstr>
      <vt:lpstr>Best Practices, Common Challenges, and Solutions </vt:lpstr>
      <vt:lpstr>PowerPoint 演示文稿</vt:lpstr>
      <vt:lpstr>Q&amp;A and Reflection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Woldegebreal, Bekalu</dc:creator>
  <cp:lastModifiedBy>adwa</cp:lastModifiedBy>
  <cp:revision>317</cp:revision>
  <dcterms:created xsi:type="dcterms:W3CDTF">2025-11-13T05:31:35Z</dcterms:created>
  <dcterms:modified xsi:type="dcterms:W3CDTF">2025-11-13T05:31:35Z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