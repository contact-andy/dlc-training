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3"/>
    <p:sldId id="547" r:id="rId4"/>
    <p:sldId id="378" r:id="rId5"/>
    <p:sldId id="526" r:id="rId6"/>
    <p:sldId id="527" r:id="rId7"/>
    <p:sldId id="528" r:id="rId8"/>
    <p:sldId id="570" r:id="rId9"/>
    <p:sldId id="571" r:id="rId10"/>
    <p:sldId id="549" r:id="rId11"/>
    <p:sldId id="550" r:id="rId12"/>
    <p:sldId id="529" r:id="rId13"/>
    <p:sldId id="530" r:id="rId14"/>
    <p:sldId id="551" r:id="rId15"/>
    <p:sldId id="531" r:id="rId16"/>
    <p:sldId id="533" r:id="rId17"/>
    <p:sldId id="532" r:id="rId18"/>
    <p:sldId id="548" r:id="rId19"/>
    <p:sldId id="534" r:id="rId20"/>
    <p:sldId id="535" r:id="rId21"/>
    <p:sldId id="536" r:id="rId22"/>
    <p:sldId id="537" r:id="rId23"/>
    <p:sldId id="538" r:id="rId24"/>
    <p:sldId id="539" r:id="rId25"/>
    <p:sldId id="540" r:id="rId26"/>
    <p:sldId id="541" r:id="rId27"/>
    <p:sldId id="32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3741" autoAdjust="0"/>
  </p:normalViewPr>
  <p:slideViewPr>
    <p:cSldViewPr snapToGrid="0">
      <p:cViewPr varScale="1">
        <p:scale>
          <a:sx n="38" d="100"/>
          <a:sy n="38" d="100"/>
        </p:scale>
        <p:origin x="-138" y="-14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56052-7B69-4CB1-ABD2-59AD2EE37E3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F9CC9-BC6C-4D23-B819-616CFF3662E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3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280F-E433-4903-A06E-0B8753D81C8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D2EA-206D-453A-8405-C447881FF781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7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799A7-A01B-483B-8CFF-61FAAFAB99CE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BDC3-E92E-40E4-8599-77AFE6CF4AF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C39-358F-4C2C-B9AA-0CCAFC508A4C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4461-0EFB-4CFA-89E2-F818F7A4CFA2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5CF33-AC62-429D-B92A-8A682E7F3629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5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88CCA-9D92-44C0-955A-964904024BF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3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15275-427A-4FBB-B2D9-C27E423DD49D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2B9F-7481-41B3-BB64-68F34EB062B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D3CC-1745-4E4F-8BE2-1CF414F3DE15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5B9EA76-9F98-4780-8EF7-CC65503A1128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8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8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8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8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8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8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5692" y="3775607"/>
            <a:ext cx="10993547" cy="2006628"/>
          </a:xfrm>
        </p:spPr>
        <p:txBody>
          <a:bodyPr>
            <a:noAutofit/>
          </a:bodyPr>
          <a:lstStyle/>
          <a:p>
            <a:pPr algn="ctr"/>
            <a:r>
              <a:rPr lang="en-US" altLang="en-US" sz="5400" dirty="0" smtClean="0">
                <a:latin typeface="Calibri" panose="020F0502020204030204" pitchFamily="34" charset="0"/>
                <a:ea typeface="Calibri" panose="020F0502020204030204" pitchFamily="34" charset="0"/>
              </a:rPr>
              <a:t>INSA Security Audit Process</a:t>
            </a:r>
            <a:endParaRPr lang="en-US" altLang="en-US" sz="54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Picture 2" descr="Elementor Footer 02 – Digital Ethiopia Learning Platform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98"/>
          <a:stretch>
            <a:fillRect/>
          </a:stretch>
        </p:blipFill>
        <p:spPr bwMode="auto">
          <a:xfrm>
            <a:off x="298383" y="471081"/>
            <a:ext cx="2954907" cy="267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0" b="23113"/>
          <a:stretch>
            <a:fillRect/>
          </a:stretch>
        </p:blipFill>
        <p:spPr bwMode="auto">
          <a:xfrm>
            <a:off x="7629067" y="592011"/>
            <a:ext cx="4264551" cy="24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/>
          <p:nvPr/>
        </p:nvSpPr>
        <p:spPr>
          <a:xfrm>
            <a:off x="10367532" y="5855290"/>
            <a:ext cx="1627244" cy="6627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 cap="all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ym typeface="+mn-ea"/>
              </a:rPr>
              <a:t>Day V</a:t>
            </a:r>
            <a:endParaRPr lang="en-US" sz="2800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Objective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80" dirty="0" smtClean="0">
                <a:sym typeface="+mn-ea"/>
              </a:rPr>
              <a:t>Understand </a:t>
            </a:r>
            <a:r>
              <a:rPr lang="en-US" sz="2880" dirty="0">
                <a:sym typeface="+mn-ea"/>
              </a:rPr>
              <a:t>the purpose and process of the INSA Security Audit.</a:t>
            </a:r>
            <a:endParaRPr lang="en-US" sz="2880" dirty="0"/>
          </a:p>
          <a:p>
            <a:pPr lvl="0"/>
            <a:r>
              <a:rPr lang="en-US" sz="2880" dirty="0">
                <a:sym typeface="+mn-ea"/>
              </a:rPr>
              <a:t>Describe the three major phases of the audit.</a:t>
            </a:r>
            <a:endParaRPr lang="en-US" sz="2880" dirty="0"/>
          </a:p>
          <a:p>
            <a:pPr lvl="0"/>
            <a:r>
              <a:rPr lang="en-US" sz="2880" dirty="0">
                <a:sym typeface="+mn-ea"/>
              </a:rPr>
              <a:t>Identify key security findings and the actions taken to resolve them.</a:t>
            </a:r>
            <a:endParaRPr lang="en-US" sz="2880" dirty="0"/>
          </a:p>
          <a:p>
            <a:pPr lvl="0"/>
            <a:r>
              <a:rPr lang="en-US" sz="2880" dirty="0">
                <a:sym typeface="+mn-ea"/>
              </a:rPr>
              <a:t>Recognize the importance of secure development practices in maintaining compliance.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0" y="197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INSA </a:t>
            </a:r>
            <a:r>
              <a:rPr lang="en-US" b="1" dirty="0"/>
              <a:t>Security Audit Overview &amp; Process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3780"/>
            <a:ext cx="10515600" cy="2603500"/>
          </a:xfrm>
        </p:spPr>
        <p:txBody>
          <a:bodyPr>
            <a:normAutofit/>
          </a:bodyPr>
          <a:lstStyle/>
          <a:p>
            <a:r>
              <a:rPr lang="en-US" b="1" dirty="0"/>
              <a:t>Learning Objectives:</a:t>
            </a:r>
            <a:endParaRPr lang="en-US" dirty="0"/>
          </a:p>
          <a:p>
            <a:pPr lvl="1"/>
            <a:r>
              <a:rPr lang="en-US" sz="2100" dirty="0"/>
              <a:t>Introduce the INSA Security Audit framework, its purpose, and how the DLC platform went through each phase.</a:t>
            </a:r>
            <a:endParaRPr lang="en-US" sz="2100" dirty="0"/>
          </a:p>
          <a:p>
            <a:pPr lvl="1"/>
            <a:endParaRPr lang="en-US" sz="2100" dirty="0" smtClean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281354" y="570232"/>
            <a:ext cx="113035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sym typeface="+mn-ea"/>
              </a:rPr>
              <a:t>Session - 1</a:t>
            </a:r>
            <a:endParaRPr lang="en-US" alt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INSA Security Audit?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568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Conducted by the </a:t>
            </a:r>
            <a:r>
              <a:rPr lang="en-US" sz="2800" b="1" dirty="0"/>
              <a:t>Information Network Security Administration (INSA)</a:t>
            </a:r>
            <a:endParaRPr lang="en-US" sz="2800" dirty="0"/>
          </a:p>
          <a:p>
            <a:r>
              <a:rPr lang="en-US" sz="2800" dirty="0"/>
              <a:t>Aims to </a:t>
            </a:r>
            <a:r>
              <a:rPr lang="en-US" sz="2800" b="1" dirty="0"/>
              <a:t>evaluate, test, and verify</a:t>
            </a:r>
            <a:r>
              <a:rPr lang="en-US" sz="2800" dirty="0"/>
              <a:t> the security strength of digital systems</a:t>
            </a:r>
            <a:endParaRPr lang="en-US" sz="2800" dirty="0"/>
          </a:p>
          <a:p>
            <a:r>
              <a:rPr lang="en-US" sz="2800" dirty="0"/>
              <a:t>Ensures government digital systems meet </a:t>
            </a:r>
            <a:r>
              <a:rPr lang="en-US" sz="2800" b="1" dirty="0"/>
              <a:t>national </a:t>
            </a:r>
            <a:r>
              <a:rPr lang="en-US" sz="2800" b="1" dirty="0" err="1"/>
              <a:t>cybersecurity</a:t>
            </a:r>
            <a:r>
              <a:rPr lang="en-US" sz="2800" b="1" dirty="0"/>
              <a:t> standards</a:t>
            </a:r>
            <a:endParaRPr lang="en-US" sz="2800" dirty="0"/>
          </a:p>
          <a:p>
            <a:r>
              <a:rPr lang="en-US" sz="2800" dirty="0"/>
              <a:t>Covers: </a:t>
            </a:r>
            <a:r>
              <a:rPr lang="en-US" sz="2800" b="1" i="1" dirty="0"/>
              <a:t>infrastructure</a:t>
            </a:r>
            <a:r>
              <a:rPr lang="en-US" sz="2800" i="1" dirty="0"/>
              <a:t>, </a:t>
            </a:r>
            <a:r>
              <a:rPr lang="en-US" sz="2800" b="1" i="1" dirty="0"/>
              <a:t>application</a:t>
            </a:r>
            <a:r>
              <a:rPr lang="en-US" sz="2800" i="1" dirty="0"/>
              <a:t>, </a:t>
            </a:r>
            <a:r>
              <a:rPr lang="en-US" sz="2800" b="1" i="1" dirty="0"/>
              <a:t>data</a:t>
            </a:r>
            <a:r>
              <a:rPr lang="en-US" sz="2800" i="1" dirty="0"/>
              <a:t>, and </a:t>
            </a:r>
            <a:r>
              <a:rPr lang="en-US" sz="2800" b="1" i="1" dirty="0"/>
              <a:t>operational</a:t>
            </a:r>
            <a:r>
              <a:rPr lang="en-US" sz="2800" i="1" dirty="0"/>
              <a:t> </a:t>
            </a:r>
            <a:r>
              <a:rPr lang="en-US" sz="2800" i="1" dirty="0" smtClean="0"/>
              <a:t>security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463" y="2181224"/>
            <a:ext cx="5223600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Audit Phases </a:t>
            </a:r>
            <a:r>
              <a:rPr lang="en-US" b="1" dirty="0" smtClean="0"/>
              <a:t>Overview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</a:t>
            </a:r>
            <a:r>
              <a:rPr lang="en-US" sz="3200" dirty="0"/>
              <a:t>hree </a:t>
            </a:r>
            <a:r>
              <a:rPr lang="en-US" sz="3200" i="1" dirty="0"/>
              <a:t>Phases of the INSA Security Audit Process</a:t>
            </a:r>
            <a:endParaRPr lang="en-US" sz="32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Security Audit Document Preparation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INSA Security Audit Report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Response and Remediation </a:t>
            </a:r>
            <a:r>
              <a:rPr lang="en-US" sz="2800" dirty="0" smtClean="0"/>
              <a:t>Actions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ym typeface="+mn-ea"/>
              </a:rPr>
              <a:t>Phase 1: </a:t>
            </a:r>
            <a:br>
              <a:rPr lang="en-US" b="1">
                <a:sym typeface="+mn-ea"/>
              </a:rPr>
            </a:br>
            <a:r>
              <a:rPr lang="en-US" b="1">
                <a:sym typeface="+mn-ea"/>
              </a:rPr>
              <a:t>Security Audit Document Preparation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Before the system was audited, we prepared a </a:t>
            </a:r>
            <a:r>
              <a:rPr lang="en-US" sz="2800" b="1" dirty="0"/>
              <a:t>detailed document describing</a:t>
            </a:r>
            <a:r>
              <a:rPr lang="en-US" sz="2800" dirty="0"/>
              <a:t> the </a:t>
            </a:r>
            <a:r>
              <a:rPr lang="en-US" sz="2800" b="1" dirty="0"/>
              <a:t>DLC system’s technical and security aspects</a:t>
            </a:r>
            <a:r>
              <a:rPr lang="en-US" sz="2800" dirty="0"/>
              <a:t>.</a:t>
            </a:r>
            <a:endParaRPr lang="en-US" sz="2800" dirty="0"/>
          </a:p>
          <a:p>
            <a:r>
              <a:rPr lang="en-US" sz="2800" b="1" dirty="0"/>
              <a:t>Included Sections:</a:t>
            </a:r>
            <a:endParaRPr lang="en-US" sz="2800" dirty="0"/>
          </a:p>
          <a:p>
            <a:pPr lvl="1"/>
            <a:r>
              <a:rPr lang="en-US" sz="2400" dirty="0"/>
              <a:t>Objective of the audit</a:t>
            </a:r>
            <a:endParaRPr lang="en-US" sz="2400" dirty="0"/>
          </a:p>
          <a:p>
            <a:pPr lvl="1"/>
            <a:r>
              <a:rPr lang="en-US" sz="2400" dirty="0"/>
              <a:t>Application overview (features, actors, requirements)</a:t>
            </a:r>
            <a:endParaRPr lang="en-US" sz="2400" dirty="0"/>
          </a:p>
          <a:p>
            <a:pPr lvl="1"/>
            <a:r>
              <a:rPr lang="en-US" sz="2400" dirty="0"/>
              <a:t>System architecture</a:t>
            </a:r>
            <a:endParaRPr lang="en-US" sz="2400" dirty="0"/>
          </a:p>
          <a:p>
            <a:pPr lvl="1"/>
            <a:r>
              <a:rPr lang="en-US" sz="2400" dirty="0"/>
              <a:t>Security functionalities</a:t>
            </a:r>
            <a:endParaRPr lang="en-US" sz="2400" dirty="0"/>
          </a:p>
          <a:p>
            <a:pPr lvl="1"/>
            <a:r>
              <a:rPr lang="en-US" sz="2400" dirty="0"/>
              <a:t>Secure coding standards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ym typeface="+mn-ea"/>
              </a:rPr>
              <a:t>System Architecture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800"/>
              <a:t>Architecture shows the overall system components, their interaction and level of integration. </a:t>
            </a:r>
            <a:endParaRPr lang="en-US" sz="2800"/>
          </a:p>
          <a:p>
            <a:pPr lvl="1"/>
            <a:r>
              <a:rPr lang="en-US" sz="2400" b="1"/>
              <a:t>System hardware architecture </a:t>
            </a:r>
            <a:endParaRPr lang="en-US" altLang="en-US" sz="2400" b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pic>
        <p:nvPicPr>
          <p:cNvPr id="16" name="Picture 1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51635" y="2993390"/>
            <a:ext cx="7790815" cy="3735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1"/>
            <a:r>
              <a:rPr lang="en-US" altLang="en-US" sz="2400" b="1"/>
              <a:t>Software Architecture</a:t>
            </a:r>
            <a:endParaRPr lang="en-US" altLang="en-US" sz="2400"/>
          </a:p>
          <a:p>
            <a:pPr lvl="2"/>
            <a:endParaRPr lang="en-US" altLang="en-US" sz="24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1605" y="2055495"/>
            <a:ext cx="6506845" cy="435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Security functionalities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" altLang="en-US" sz="3200" b="1" dirty="0">
                <a:sym typeface="+mn-ea"/>
              </a:rPr>
              <a:t>Web Platform</a:t>
            </a:r>
            <a:endParaRPr lang="" altLang="en-US" sz="3600" b="1" dirty="0">
              <a:sym typeface="+mn-ea"/>
            </a:endParaRPr>
          </a:p>
          <a:p>
            <a:pPr lvl="1"/>
            <a:r>
              <a:rPr lang="" altLang="en-US" sz="3000" dirty="0"/>
              <a:t>CSRF Protection (Cross-Site Request Forgery)</a:t>
            </a:r>
            <a:endParaRPr lang="" altLang="en-US" sz="3000" dirty="0"/>
          </a:p>
          <a:p>
            <a:pPr lvl="1"/>
            <a:r>
              <a:rPr lang="" altLang="en-US" sz="3000" dirty="0"/>
              <a:t>Password Hashing (bcrypt)</a:t>
            </a:r>
            <a:endParaRPr lang="" altLang="en-US" sz="3000" dirty="0"/>
          </a:p>
          <a:p>
            <a:pPr lvl="1"/>
            <a:r>
              <a:rPr lang="" altLang="en-US" sz="3000" dirty="0"/>
              <a:t>SQL Injection Protection</a:t>
            </a:r>
            <a:endParaRPr lang="" altLang="en-US" sz="3000" dirty="0"/>
          </a:p>
          <a:p>
            <a:pPr lvl="1"/>
            <a:r>
              <a:rPr lang="" altLang="en-US" sz="3000" dirty="0"/>
              <a:t>XSS Protection (Cross-Site Scripting)</a:t>
            </a:r>
            <a:endParaRPr lang="" altLang="en-US" sz="3000" dirty="0"/>
          </a:p>
          <a:p>
            <a:pPr lvl="1"/>
            <a:r>
              <a:rPr lang="" altLang="en-US" sz="3000" dirty="0"/>
              <a:t>Authentication System</a:t>
            </a:r>
            <a:endParaRPr lang="" altLang="en-US" sz="3000" dirty="0"/>
          </a:p>
          <a:p>
            <a:pPr lvl="1"/>
            <a:r>
              <a:rPr lang="" altLang="en-US" sz="3000" dirty="0"/>
              <a:t>Authorization Policies &amp; Gates</a:t>
            </a:r>
            <a:endParaRPr lang="" altLang="en-US" sz="3000" dirty="0"/>
          </a:p>
          <a:p>
            <a:pPr lvl="1"/>
            <a:r>
              <a:rPr lang="" altLang="en-US" sz="3000" dirty="0"/>
              <a:t>Input Validation</a:t>
            </a:r>
            <a:endParaRPr lang="" altLang="en-US" sz="3000" dirty="0"/>
          </a:p>
          <a:p>
            <a:pPr lvl="1"/>
            <a:r>
              <a:rPr lang="" altLang="en-US" sz="3000" dirty="0"/>
              <a:t>Mass Assignment Protection</a:t>
            </a:r>
            <a:endParaRPr lang="" altLang="en-US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" altLang="en-US" sz="3200" b="1"/>
              <a:t>Mobile Application</a:t>
            </a:r>
            <a:endParaRPr lang="" altLang="en-US" b="1"/>
          </a:p>
          <a:p>
            <a:pPr lvl="1"/>
            <a:r>
              <a:rPr lang="" altLang="en-US" sz="3000"/>
              <a:t>HTTPS/TLS by Default (Fetch / Axios)</a:t>
            </a:r>
            <a:endParaRPr lang="" altLang="en-US" sz="3000"/>
          </a:p>
          <a:p>
            <a:pPr lvl="1"/>
            <a:r>
              <a:rPr lang="" altLang="en-US" sz="3000"/>
              <a:t>Secure Storage APIs (Platform-based)</a:t>
            </a:r>
            <a:endParaRPr lang="" altLang="en-US" sz="3000"/>
          </a:p>
          <a:p>
            <a:pPr lvl="1"/>
            <a:r>
              <a:rPr lang="" altLang="en-US" sz="3000"/>
              <a:t>Protection Against XSS</a:t>
            </a:r>
            <a:endParaRPr lang="" altLang="en-US" sz="3000"/>
          </a:p>
          <a:p>
            <a:pPr lvl="1"/>
            <a:r>
              <a:rPr lang="" altLang="en-US" sz="3000"/>
              <a:t>Permissions Management</a:t>
            </a:r>
            <a:endParaRPr lang="" altLang="en-US" sz="3000"/>
          </a:p>
          <a:p>
            <a:pPr lvl="1"/>
            <a:r>
              <a:rPr lang="" altLang="en-US" sz="3000"/>
              <a:t>Safe Mode for WebViews</a:t>
            </a:r>
            <a:endParaRPr lang="" altLang="en-US" sz="3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ym typeface="+mn-ea"/>
              </a:rPr>
              <a:t>Security </a:t>
            </a:r>
            <a:r>
              <a:rPr lang="en-US" b="1" dirty="0">
                <a:sym typeface="+mn-ea"/>
              </a:rPr>
              <a:t>Overview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Network &amp; Infrastructure Security</a:t>
            </a:r>
            <a:r>
              <a:rPr lang="en-US" sz="2800" dirty="0"/>
              <a:t>: Firewalls, HTTPS, server access</a:t>
            </a:r>
            <a:endParaRPr lang="en-US" sz="2800" dirty="0"/>
          </a:p>
          <a:p>
            <a:r>
              <a:rPr lang="en-US" sz="2800" b="1" dirty="0"/>
              <a:t>Application Security:</a:t>
            </a:r>
            <a:r>
              <a:rPr lang="en-US" sz="2800" dirty="0"/>
              <a:t> CSRF tokens, SQL injection protection</a:t>
            </a:r>
            <a:endParaRPr lang="en-US" sz="2800" dirty="0"/>
          </a:p>
          <a:p>
            <a:r>
              <a:rPr lang="en-US" sz="2800" b="1" dirty="0"/>
              <a:t>Data Security &amp; Privacy</a:t>
            </a:r>
            <a:r>
              <a:rPr lang="en-US" sz="2800" dirty="0"/>
              <a:t>: Encryption, backup, restricted access</a:t>
            </a:r>
            <a:endParaRPr lang="en-US" sz="2800" dirty="0"/>
          </a:p>
          <a:p>
            <a:r>
              <a:rPr lang="en-US" sz="2800" b="1" dirty="0"/>
              <a:t>Authentication &amp; Authorization: </a:t>
            </a:r>
            <a:r>
              <a:rPr lang="en-US" sz="2800" dirty="0"/>
              <a:t>Role-based access control</a:t>
            </a:r>
            <a:endParaRPr lang="en-US" sz="2800" dirty="0"/>
          </a:p>
          <a:p>
            <a:r>
              <a:rPr lang="en-US" sz="2800" b="1" dirty="0"/>
              <a:t>Operational Security:</a:t>
            </a:r>
            <a:r>
              <a:rPr lang="en-US" sz="2800" dirty="0"/>
              <a:t> Regular updates, monitoring, incident handling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Secure Coding Standards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Categories:</a:t>
            </a:r>
            <a:endParaRPr lang="en-US" sz="3200"/>
          </a:p>
          <a:p>
            <a:pPr lvl="1"/>
            <a:r>
              <a:rPr lang="en-US" sz="2800" b="1"/>
              <a:t>General Principles:</a:t>
            </a:r>
            <a:r>
              <a:rPr lang="en-US" sz="2800"/>
              <a:t> Input validation, output sanitization</a:t>
            </a:r>
            <a:endParaRPr lang="en-US" sz="2800"/>
          </a:p>
          <a:p>
            <a:pPr lvl="1"/>
            <a:r>
              <a:rPr lang="en-US" sz="2800" b="1"/>
              <a:t>Mobile App Security: </a:t>
            </a:r>
            <a:r>
              <a:rPr lang="en-US" sz="2800"/>
              <a:t>Network protection, secure data storage, auth logic</a:t>
            </a:r>
            <a:endParaRPr lang="en-US" sz="2800"/>
          </a:p>
          <a:p>
            <a:pPr lvl="1"/>
            <a:r>
              <a:rPr lang="en-US" sz="2800" b="1"/>
              <a:t>Web Application Security: </a:t>
            </a:r>
            <a:r>
              <a:rPr lang="en-US" sz="2800"/>
              <a:t>Encryption keys, CSRF tokens, password reset</a:t>
            </a:r>
            <a:endParaRPr lang="en-US" sz="2800"/>
          </a:p>
          <a:p>
            <a:pPr lvl="1"/>
            <a:r>
              <a:rPr lang="en-US" sz="2800" b="1"/>
              <a:t>Authorization Controls:</a:t>
            </a:r>
            <a:r>
              <a:rPr lang="en-US" sz="2800"/>
              <a:t> Role-based rules for access</a:t>
            </a:r>
            <a:endParaRPr lang="en-US" sz="2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pic>
        <p:nvPicPr>
          <p:cNvPr id="1026" name="Picture 2" descr="Enhancing Software Security Through Secure Coding Practice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85"/>
          <a:stretch>
            <a:fillRect/>
          </a:stretch>
        </p:blipFill>
        <p:spPr bwMode="auto">
          <a:xfrm>
            <a:off x="1051560" y="1584960"/>
            <a:ext cx="10312400" cy="420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ym typeface="+mn-ea"/>
              </a:rPr>
              <a:t>Phase 2: </a:t>
            </a:r>
            <a:br>
              <a:rPr lang="en-US" b="1">
                <a:sym typeface="+mn-ea"/>
              </a:rPr>
            </a:br>
            <a:r>
              <a:rPr lang="en-US" b="1">
                <a:sym typeface="+mn-ea"/>
              </a:rPr>
              <a:t>INSA Audit Execution &amp; Report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b="1"/>
              <a:t>Overview</a:t>
            </a:r>
            <a:endParaRPr lang="en-US" altLang="en-US" sz="2800"/>
          </a:p>
          <a:p>
            <a:pPr lvl="1"/>
            <a:r>
              <a:rPr lang="en-US" sz="2400"/>
              <a:t>INSA conducted </a:t>
            </a:r>
            <a:r>
              <a:rPr lang="en-US" sz="2400" b="1"/>
              <a:t>Vulnerability Assessment </a:t>
            </a:r>
            <a:r>
              <a:rPr lang="en-US" sz="2400"/>
              <a:t>&amp; </a:t>
            </a:r>
            <a:r>
              <a:rPr lang="en-US" sz="2400" b="1"/>
              <a:t>Penetration Testing</a:t>
            </a:r>
            <a:endParaRPr lang="en-US" sz="2400" b="1"/>
          </a:p>
          <a:p>
            <a:pPr lvl="1"/>
            <a:r>
              <a:rPr lang="en-US" sz="2400" b="1"/>
              <a:t>Simulated real-world attacks</a:t>
            </a:r>
            <a:r>
              <a:rPr lang="en-US" sz="2400"/>
              <a:t> using</a:t>
            </a:r>
            <a:r>
              <a:rPr lang="en-US" sz="2400" b="1"/>
              <a:t> advanced tools</a:t>
            </a:r>
            <a:r>
              <a:rPr lang="en-US" sz="2400"/>
              <a:t> and </a:t>
            </a:r>
            <a:r>
              <a:rPr lang="en-US" sz="2400" b="1"/>
              <a:t>practices</a:t>
            </a:r>
            <a:endParaRPr lang="en-US" sz="2400"/>
          </a:p>
          <a:p>
            <a:pPr lvl="1"/>
            <a:r>
              <a:rPr lang="en-US" sz="2400" b="1"/>
              <a:t>Measured </a:t>
            </a:r>
            <a:r>
              <a:rPr lang="en-US" sz="2400"/>
              <a:t>the </a:t>
            </a:r>
            <a:r>
              <a:rPr lang="en-US" sz="2400" b="1"/>
              <a:t>system’s overall security posture</a:t>
            </a:r>
            <a:endParaRPr lang="en-US" sz="2330"/>
          </a:p>
          <a:p>
            <a:r>
              <a:rPr lang="en-US" sz="2800" b="1"/>
              <a:t>Key Deliverables:</a:t>
            </a:r>
            <a:endParaRPr lang="en-US" sz="2800"/>
          </a:p>
          <a:p>
            <a:pPr lvl="1"/>
            <a:r>
              <a:rPr lang="en-US" sz="2400"/>
              <a:t>Vulnerability Assessment Report</a:t>
            </a:r>
            <a:endParaRPr lang="en-US" sz="2400"/>
          </a:p>
          <a:p>
            <a:pPr lvl="1"/>
            <a:r>
              <a:rPr lang="en-US" sz="2400"/>
              <a:t>Risk Level Classification</a:t>
            </a:r>
            <a:endParaRPr lang="en-US" sz="2400"/>
          </a:p>
          <a:p>
            <a:pPr lvl="1"/>
            <a:r>
              <a:rPr lang="en-US" sz="2400"/>
              <a:t>Remediation Recommendations</a:t>
            </a:r>
            <a:endParaRPr lang="en-US" sz="24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sz="3200" b="1" dirty="0"/>
              <a:t>Existing Security Controls Acknowledged:</a:t>
            </a:r>
            <a:endParaRPr lang="en-US" sz="3200" dirty="0"/>
          </a:p>
          <a:p>
            <a:pPr lvl="1"/>
            <a:r>
              <a:rPr lang="en-US" sz="2800" b="1" dirty="0"/>
              <a:t>Enforced HTTPS redirection</a:t>
            </a:r>
            <a:endParaRPr lang="en-US" sz="2800" dirty="0"/>
          </a:p>
          <a:p>
            <a:pPr lvl="2"/>
            <a:r>
              <a:rPr lang="en-US" sz="2520" dirty="0"/>
              <a:t>HTTPS redirection ensures that all users automatically access the system through a secure, encrypted connection.</a:t>
            </a:r>
            <a:endParaRPr lang="en-US" sz="2520" dirty="0"/>
          </a:p>
          <a:p>
            <a:pPr lvl="1"/>
            <a:r>
              <a:rPr lang="en-US" sz="2800" b="1" dirty="0"/>
              <a:t>Secure cookie handling</a:t>
            </a:r>
            <a:endParaRPr lang="en-US" sz="2800" dirty="0"/>
          </a:p>
          <a:p>
            <a:pPr lvl="2"/>
            <a:r>
              <a:rPr lang="en-US" sz="2520" dirty="0"/>
              <a:t>Secure cookie handling involves setting cookie flags such as Secure, HttpOnly, and SameSite to prevent unauthorized access.</a:t>
            </a:r>
            <a:endParaRPr lang="en-US" sz="2520" dirty="0"/>
          </a:p>
          <a:p>
            <a:pPr lvl="1"/>
            <a:r>
              <a:rPr lang="en-US" sz="2800" b="1" dirty="0"/>
              <a:t>SQL Injection protection</a:t>
            </a:r>
            <a:endParaRPr lang="en-US" sz="2800" dirty="0"/>
          </a:p>
          <a:p>
            <a:pPr lvl="2"/>
            <a:r>
              <a:rPr lang="en-US" sz="2520" dirty="0"/>
              <a:t>SQL Injection protection ensures that all user inputs are properly validated and sanitized before interacting with the database.</a:t>
            </a:r>
            <a:endParaRPr lang="en-US" sz="252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ym typeface="+mn-ea"/>
              </a:rPr>
              <a:t>INSA Summary of Findings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Reported Vulnerabilities:</a:t>
            </a:r>
            <a:endParaRPr lang="en-US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graphicFrame>
        <p:nvGraphicFramePr>
          <p:cNvPr id="6" name="Table 5"/>
          <p:cNvGraphicFramePr/>
          <p:nvPr/>
        </p:nvGraphicFramePr>
        <p:xfrm>
          <a:off x="769620" y="2251710"/>
          <a:ext cx="1097280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8140"/>
                <a:gridCol w="2994660"/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 dirty="0" smtClean="0"/>
                        <a:t>Issue</a:t>
                      </a:r>
                      <a:endParaRPr lang="en-US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/>
                        <a:t>Risk Level</a:t>
                      </a:r>
                      <a:endParaRPr lang="en-US" altLang="en-US" sz="280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Unrestricted File Upload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/>
                        <a:t>High</a:t>
                      </a:r>
                      <a:endParaRPr lang="en-US" altLang="en-US" sz="280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Application Logic Error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/>
                        <a:t>Medium</a:t>
                      </a:r>
                      <a:endParaRPr lang="en-US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No Account Lockout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Medium</a:t>
                      </a:r>
                      <a:endParaRPr lang="en-US" sz="280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Missing Security Headers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Medium</a:t>
                      </a:r>
                      <a:endParaRPr 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Poor Password Complexity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Medium</a:t>
                      </a:r>
                      <a:endParaRPr lang="en-US" sz="280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Improper Input Validation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Medium</a:t>
                      </a:r>
                      <a:endParaRPr 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Weak Session Expiration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Medium</a:t>
                      </a:r>
                      <a:endParaRPr lang="en-US" sz="2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0" y="197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Findings, Mitigation &amp; Final Outcomes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3780"/>
            <a:ext cx="10515600" cy="2603500"/>
          </a:xfrm>
        </p:spPr>
        <p:txBody>
          <a:bodyPr>
            <a:normAutofit/>
          </a:bodyPr>
          <a:lstStyle/>
          <a:p>
            <a:r>
              <a:rPr lang="en-US" b="1" dirty="0"/>
              <a:t>Learning Objectives:</a:t>
            </a:r>
            <a:endParaRPr lang="en-US" dirty="0"/>
          </a:p>
          <a:p>
            <a:pPr lvl="1"/>
            <a:r>
              <a:rPr lang="en-US" sz="2100" dirty="0" smtClean="0"/>
              <a:t>Demonstrate how vulnerabilities were mitigated and lessons learned for maintaining security post-audit.</a:t>
            </a:r>
            <a:endParaRPr lang="en-US" sz="2100" dirty="0" smtClean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281354" y="570232"/>
            <a:ext cx="113035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sym typeface="+mn-ea"/>
              </a:rPr>
              <a:t>Session - </a:t>
            </a:r>
            <a:r>
              <a:rPr lang="" altLang="en-US" b="1" dirty="0">
                <a:sym typeface="+mn-ea"/>
              </a:rPr>
              <a:t>2</a:t>
            </a:r>
            <a:endParaRPr lang="" altLang="en-US" b="1" dirty="0">
              <a:sym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ym typeface="+mn-ea"/>
              </a:rPr>
              <a:t>Phase 3: </a:t>
            </a:r>
            <a:br>
              <a:rPr lang="en-US" b="1">
                <a:sym typeface="+mn-ea"/>
              </a:rPr>
            </a:br>
            <a:r>
              <a:rPr lang="en-US" b="1">
                <a:sym typeface="+mn-ea"/>
              </a:rPr>
              <a:t>Response and Remediation Actions</a:t>
            </a:r>
            <a:endParaRPr lang="en-US" b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/>
              <a:t>After receiving the audit report, </a:t>
            </a:r>
            <a:r>
              <a:rPr lang="en-US" sz="3600" b="1"/>
              <a:t>the team analyzed every finding</a:t>
            </a:r>
            <a:r>
              <a:rPr lang="en-US" sz="3600"/>
              <a:t> and </a:t>
            </a:r>
            <a:r>
              <a:rPr lang="en-US" sz="3600" b="1"/>
              <a:t>applied corrective measures across code</a:t>
            </a:r>
            <a:r>
              <a:rPr lang="en-US" sz="3600"/>
              <a:t>, </a:t>
            </a:r>
            <a:r>
              <a:rPr lang="en-US" sz="3600" b="1"/>
              <a:t>configuration</a:t>
            </a:r>
            <a:r>
              <a:rPr lang="en-US" sz="3600"/>
              <a:t>, and </a:t>
            </a:r>
            <a:r>
              <a:rPr lang="en-US" sz="3600" b="1"/>
              <a:t>infrastructure</a:t>
            </a:r>
            <a:r>
              <a:rPr lang="en-US" sz="3600"/>
              <a:t>.</a:t>
            </a:r>
            <a:endParaRPr lang="en-US" sz="3600"/>
          </a:p>
          <a:p>
            <a:pPr lvl="1"/>
            <a:r>
              <a:rPr lang="en-US" sz="3200"/>
              <a:t>Goal: Achieve compliance and approval from INSA.</a:t>
            </a:r>
            <a:endParaRPr lang="en-US" sz="3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ym typeface="+mn-ea"/>
              </a:rPr>
              <a:t>1. </a:t>
            </a:r>
            <a:r>
              <a:rPr lang="en-US" b="1">
                <a:sym typeface="+mn-ea"/>
              </a:rPr>
              <a:t>Unrestricted File Upload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b="1"/>
              <a:t>Action Taken:</a:t>
            </a:r>
            <a:endParaRPr lang="en-US" sz="3600"/>
          </a:p>
          <a:p>
            <a:pPr lvl="1"/>
            <a:r>
              <a:rPr lang="en-US" sz="3200"/>
              <a:t>Server-side file validation</a:t>
            </a:r>
            <a:endParaRPr lang="en-US" sz="3200"/>
          </a:p>
          <a:p>
            <a:pPr lvl="1"/>
            <a:r>
              <a:rPr lang="en-US" sz="3200"/>
              <a:t>Automatic file renaming</a:t>
            </a:r>
            <a:endParaRPr lang="en-US" sz="3200"/>
          </a:p>
          <a:p>
            <a:pPr lvl="1"/>
            <a:r>
              <a:rPr lang="en-US" sz="3200"/>
              <a:t>Restricted folder access (no script execution)</a:t>
            </a:r>
            <a:endParaRPr lang="en-US" sz="3200"/>
          </a:p>
          <a:p>
            <a:pPr lvl="1"/>
            <a:r>
              <a:rPr lang="en-US" sz="3200"/>
              <a:t>Frontend file type validation</a:t>
            </a:r>
            <a:endParaRPr lang="en-US" sz="3200"/>
          </a:p>
          <a:p>
            <a:r>
              <a:rPr lang="en-US" sz="3600" b="1"/>
              <a:t>Result</a:t>
            </a:r>
            <a:r>
              <a:rPr lang="en-US" sz="3600"/>
              <a:t>: No more malicious uploads possible.</a:t>
            </a:r>
            <a:endParaRPr lang="en-US" sz="36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/>
              <a:t>2. </a:t>
            </a:r>
            <a:r>
              <a:rPr lang="en-US" b="1">
                <a:sym typeface="+mn-ea"/>
              </a:rPr>
              <a:t>Application Logic / Configuration Error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/>
              <a:t>Action Taken:</a:t>
            </a:r>
            <a:endParaRPr lang="en-US" sz="3600"/>
          </a:p>
          <a:p>
            <a:pPr lvl="1"/>
            <a:r>
              <a:rPr lang="en-US" sz="3200"/>
              <a:t>Updated .env for production mode</a:t>
            </a:r>
            <a:endParaRPr lang="en-US" sz="3200"/>
          </a:p>
          <a:p>
            <a:pPr lvl="1"/>
            <a:r>
              <a:rPr lang="en-US" sz="3200"/>
              <a:t>Generic error pages</a:t>
            </a:r>
            <a:endParaRPr lang="en-US" sz="3200"/>
          </a:p>
          <a:p>
            <a:pPr lvl="1"/>
            <a:r>
              <a:rPr lang="en-US" sz="3200"/>
              <a:t>Denied public access to configuration files</a:t>
            </a:r>
            <a:endParaRPr lang="en-US" sz="3200"/>
          </a:p>
          <a:p>
            <a:r>
              <a:rPr lang="en-US" sz="3600" b="1"/>
              <a:t>Result</a:t>
            </a:r>
            <a:r>
              <a:rPr lang="en-US" sz="3600"/>
              <a:t>: Environment exposure eliminated.</a:t>
            </a:r>
            <a:endParaRPr lang="en-US" sz="36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>
                <a:sym typeface="+mn-ea"/>
              </a:rPr>
              <a:t>3. </a:t>
            </a:r>
            <a:r>
              <a:rPr lang="en-US" b="1">
                <a:sym typeface="+mn-ea"/>
              </a:rPr>
              <a:t>Authentication &amp; Authorization Fixes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No Account Lockout → Fixed by:</a:t>
            </a:r>
            <a:endParaRPr lang="en-US" sz="3600"/>
          </a:p>
          <a:p>
            <a:pPr lvl="1"/>
            <a:r>
              <a:rPr lang="en-US" sz="3200"/>
              <a:t>Laravel rate limiting &amp; lockout timer</a:t>
            </a:r>
            <a:endParaRPr lang="en-US" sz="3200"/>
          </a:p>
          <a:p>
            <a:pPr lvl="1"/>
            <a:r>
              <a:rPr lang="en-US" sz="3200"/>
              <a:t>User feedback on failed attempts</a:t>
            </a:r>
            <a:endParaRPr lang="en-US" sz="3200"/>
          </a:p>
          <a:p>
            <a:r>
              <a:rPr lang="en-US" sz="3600" b="1"/>
              <a:t>Weak Password Policy → Fixed by:</a:t>
            </a:r>
            <a:endParaRPr lang="en-US" sz="3600"/>
          </a:p>
          <a:p>
            <a:pPr lvl="1"/>
            <a:r>
              <a:rPr lang="en-US" sz="3200"/>
              <a:t>Enforcing complex password rules</a:t>
            </a:r>
            <a:endParaRPr lang="en-US" sz="3200"/>
          </a:p>
          <a:p>
            <a:pPr lvl="1"/>
            <a:r>
              <a:rPr lang="en-US" sz="3200"/>
              <a:t>Applied across all forms</a:t>
            </a:r>
            <a:endParaRPr lang="en-US" sz="3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ym typeface="+mn-ea"/>
              </a:rPr>
              <a:t>4: Header and Input Validation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/>
              <a:t>Missing Security Headers →</a:t>
            </a:r>
            <a:endParaRPr lang="en-US" sz="3200"/>
          </a:p>
          <a:p>
            <a:pPr lvl="1"/>
            <a:r>
              <a:rPr lang="en-US" sz="2800"/>
              <a:t>Added middleware-based header enforcement</a:t>
            </a:r>
            <a:endParaRPr lang="en-US" sz="2800"/>
          </a:p>
          <a:p>
            <a:r>
              <a:rPr lang="en-US" sz="3200" b="1"/>
              <a:t>Improper Input Validation →</a:t>
            </a:r>
            <a:endParaRPr lang="en-US" sz="3200"/>
          </a:p>
          <a:p>
            <a:pPr lvl="1"/>
            <a:r>
              <a:rPr lang="en-US" sz="2800"/>
              <a:t>Introduced standardized validation rules</a:t>
            </a:r>
            <a:endParaRPr lang="en-US" sz="2800"/>
          </a:p>
          <a:p>
            <a:pPr lvl="1"/>
            <a:r>
              <a:rPr lang="en-US" sz="2800"/>
              <a:t>Consistency across all forms</a:t>
            </a:r>
            <a:endParaRPr lang="en-US" sz="2800"/>
          </a:p>
          <a:p>
            <a:r>
              <a:rPr lang="en-US" sz="3200" b="1"/>
              <a:t>Weak Session Timeout →</a:t>
            </a:r>
            <a:endParaRPr lang="en-US" sz="3200"/>
          </a:p>
          <a:p>
            <a:pPr lvl="1"/>
            <a:r>
              <a:rPr lang="en-US" sz="2800"/>
              <a:t>Reduced inactivity limit to 10 minutes</a:t>
            </a:r>
            <a:endParaRPr lang="en-US" sz="2800"/>
          </a:p>
          <a:p>
            <a:pPr lvl="1"/>
            <a:r>
              <a:rPr lang="en-US" sz="2800"/>
              <a:t>Implemented session auto-logout middleware</a:t>
            </a:r>
            <a:endParaRPr lang="en-US" sz="2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ym typeface="+mn-ea"/>
              </a:rPr>
              <a:t>Summary of Improvements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/>
              <a:t>All vulnerabilities addressed through:</a:t>
            </a:r>
            <a:endParaRPr lang="en-US" sz="3600"/>
          </a:p>
          <a:p>
            <a:pPr lvl="1"/>
            <a:r>
              <a:rPr lang="en-US" sz="3200"/>
              <a:t>Secure configuration</a:t>
            </a:r>
            <a:endParaRPr lang="en-US" sz="3200"/>
          </a:p>
          <a:p>
            <a:pPr lvl="1"/>
            <a:r>
              <a:rPr lang="en-US" sz="3200"/>
              <a:t>Code updates</a:t>
            </a:r>
            <a:endParaRPr lang="en-US" sz="3200"/>
          </a:p>
          <a:p>
            <a:pPr lvl="1"/>
            <a:r>
              <a:rPr lang="en-US" sz="3200"/>
              <a:t>Middleware enforcement</a:t>
            </a:r>
            <a:endParaRPr lang="en-US" sz="3200"/>
          </a:p>
          <a:p>
            <a:pPr lvl="1"/>
            <a:r>
              <a:rPr lang="en-US" sz="3200"/>
              <a:t>User policy strengthening</a:t>
            </a:r>
            <a:endParaRPr lang="en-US" sz="3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ym typeface="+mn-ea"/>
              </a:rPr>
              <a:t>Lessons Learned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Document every security configuration</a:t>
            </a:r>
            <a:endParaRPr lang="en-US" sz="3200"/>
          </a:p>
          <a:p>
            <a:r>
              <a:rPr lang="en-US" sz="3200"/>
              <a:t>Regular internal testing before audits</a:t>
            </a:r>
            <a:endParaRPr lang="en-US" sz="3200"/>
          </a:p>
          <a:p>
            <a:r>
              <a:rPr lang="en-US" sz="3200"/>
              <a:t>Adopt secure coding standards continuously</a:t>
            </a:r>
            <a:endParaRPr lang="en-US" sz="3200"/>
          </a:p>
          <a:p>
            <a:r>
              <a:rPr lang="en-US" sz="3200"/>
              <a:t>Maintain a feedback loop between developers &amp; security team</a:t>
            </a:r>
            <a:endParaRPr lang="en-US" sz="3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ym typeface="+mn-ea"/>
              </a:rPr>
              <a:t>Final Outcome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INSA </a:t>
            </a:r>
            <a:r>
              <a:rPr lang="en-US" sz="3200" b="1"/>
              <a:t>confirmed all vulnerabilities were mitigated successfully</a:t>
            </a:r>
            <a:endParaRPr lang="en-US" sz="3200" b="1"/>
          </a:p>
          <a:p>
            <a:r>
              <a:rPr lang="en-US" sz="3200"/>
              <a:t>System approved for </a:t>
            </a:r>
            <a:r>
              <a:rPr lang="en-US" sz="3200" b="1"/>
              <a:t>live deployment</a:t>
            </a:r>
            <a:endParaRPr lang="en-US" sz="3200" b="1"/>
          </a:p>
          <a:p>
            <a:r>
              <a:rPr lang="en-US" sz="3200"/>
              <a:t>Strengthened </a:t>
            </a:r>
            <a:r>
              <a:rPr lang="en-US" sz="3200" b="1"/>
              <a:t>confidence </a:t>
            </a:r>
            <a:r>
              <a:rPr lang="en-US" sz="3200"/>
              <a:t>in </a:t>
            </a:r>
            <a:r>
              <a:rPr lang="en-US" sz="3200" b="1"/>
              <a:t>system reliability</a:t>
            </a:r>
            <a:r>
              <a:rPr lang="en-US" sz="3200"/>
              <a:t> and </a:t>
            </a:r>
            <a:r>
              <a:rPr lang="en-US" sz="3200" b="1"/>
              <a:t>security posture</a:t>
            </a:r>
            <a:endParaRPr lang="en-US" sz="3200" b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6626" name="Picture 2" descr="Thank You Letter Danger: 5 Things You Should Never Include!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5948</Words>
  <Application>WPS Presentation</Application>
  <PresentationFormat>Custom</PresentationFormat>
  <Paragraphs>315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DejaVu Sans</vt:lpstr>
      <vt:lpstr>微软雅黑</vt:lpstr>
      <vt:lpstr>Droid Sans Fallback</vt:lpstr>
      <vt:lpstr>Arial Unicode MS</vt:lpstr>
      <vt:lpstr>Ubuntu</vt:lpstr>
      <vt:lpstr>Clarity</vt:lpstr>
      <vt:lpstr>PowerPoint 演示文稿</vt:lpstr>
      <vt:lpstr>Objective</vt:lpstr>
      <vt:lpstr>INSA Security Audit Overview &amp; Process</vt:lpstr>
      <vt:lpstr>What is INSA Security Audit?</vt:lpstr>
      <vt:lpstr>Audit Phases Overview</vt:lpstr>
      <vt:lpstr>Phase 1:  Security Audit Document Preparation</vt:lpstr>
      <vt:lpstr>System Architecture</vt:lpstr>
      <vt:lpstr>PowerPoint 演示文稿</vt:lpstr>
      <vt:lpstr>PowerPoint 演示文稿</vt:lpstr>
      <vt:lpstr>PowerPoint 演示文稿</vt:lpstr>
      <vt:lpstr>Security Overview</vt:lpstr>
      <vt:lpstr>Secure Coding Standards</vt:lpstr>
      <vt:lpstr>PowerPoint 演示文稿</vt:lpstr>
      <vt:lpstr>Phase 2:  INSA Audit Execution &amp; Report</vt:lpstr>
      <vt:lpstr>PowerPoint 演示文稿</vt:lpstr>
      <vt:lpstr>INSA Summary of Findings</vt:lpstr>
      <vt:lpstr>Findings, Mitigation &amp; Final Outcomes</vt:lpstr>
      <vt:lpstr>Phase 3:  Response and Remediation Actions</vt:lpstr>
      <vt:lpstr>1. Unrestricted File Upload</vt:lpstr>
      <vt:lpstr>2. Application Logic / Configuration Error</vt:lpstr>
      <vt:lpstr>3. Authentication &amp; Authorization Fixes</vt:lpstr>
      <vt:lpstr>4: Header and Input Validation</vt:lpstr>
      <vt:lpstr>Summary of Improvements</vt:lpstr>
      <vt:lpstr>Lessons Learned</vt:lpstr>
      <vt:lpstr>Final Outcome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Woldegebreal, Bekalu</dc:creator>
  <cp:lastModifiedBy>adwa</cp:lastModifiedBy>
  <cp:revision>347</cp:revision>
  <dcterms:created xsi:type="dcterms:W3CDTF">2025-11-14T07:28:03Z</dcterms:created>
  <dcterms:modified xsi:type="dcterms:W3CDTF">2025-11-14T07:28:03Z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